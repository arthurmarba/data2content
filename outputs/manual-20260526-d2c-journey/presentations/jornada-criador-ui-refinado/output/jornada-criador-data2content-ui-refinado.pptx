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1120cdac464468" /><Relationship Type="http://schemas.openxmlformats.org/officeDocument/2006/relationships/extended-properties" Target="/docProps/app.xml" Id="R41bcafa4fedd4e84" /><Relationship Type="http://schemas.openxmlformats.org/officeDocument/2006/relationships/officeDocument" Target="/ppt/presentation.xml" Id="R9987e5c6f78f4f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0d3ea79eb42a7"/>
  </p:sldMasterIdLst>
  <p:notesMasterIdLst>
    <p:notesMasterId xmlns:r="http://schemas.openxmlformats.org/officeDocument/2006/relationships" r:id="Re4934f51a8d9483c"/>
  </p:notesMasterIdLst>
  <p:sldIdLst>
    <p:sldId xmlns:r="http://schemas.openxmlformats.org/officeDocument/2006/relationships" id="256" r:id="Rb2d4c3ab44bb4e64"/>
    <p:sldId xmlns:r="http://schemas.openxmlformats.org/officeDocument/2006/relationships" id="257" r:id="R40a5fc61297c46b1"/>
    <p:sldId xmlns:r="http://schemas.openxmlformats.org/officeDocument/2006/relationships" id="258" r:id="R3bfa66b10bdd4a03"/>
    <p:sldId xmlns:r="http://schemas.openxmlformats.org/officeDocument/2006/relationships" id="259" r:id="R686c56a22e6b4189"/>
    <p:sldId xmlns:r="http://schemas.openxmlformats.org/officeDocument/2006/relationships" id="260" r:id="Rc663a82ab05c4251"/>
    <p:sldId xmlns:r="http://schemas.openxmlformats.org/officeDocument/2006/relationships" id="261" r:id="R1d3ec8f3056b4777"/>
    <p:sldId xmlns:r="http://schemas.openxmlformats.org/officeDocument/2006/relationships" id="262" r:id="Rb148e22414344e76"/>
    <p:sldId xmlns:r="http://schemas.openxmlformats.org/officeDocument/2006/relationships" id="263" r:id="R826c372eb81e48f0"/>
    <p:sldId xmlns:r="http://schemas.openxmlformats.org/officeDocument/2006/relationships" id="264" r:id="Rfd388aec41324034"/>
    <p:sldId xmlns:r="http://schemas.openxmlformats.org/officeDocument/2006/relationships" id="265" r:id="R19a6d883e3fb48fa"/>
    <p:sldId xmlns:r="http://schemas.openxmlformats.org/officeDocument/2006/relationships" id="266" r:id="R347c81d8bf864179"/>
    <p:sldId xmlns:r="http://schemas.openxmlformats.org/officeDocument/2006/relationships" id="267" r:id="R2e7b83ba44b447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0d3ea79eb42a7" /><Relationship Type="http://schemas.openxmlformats.org/officeDocument/2006/relationships/theme" Target="/ppt/theme/theme1.xml" Id="R225c2b0b469e4e6f" /><Relationship Type="http://schemas.openxmlformats.org/officeDocument/2006/relationships/notesMaster" Target="/ppt/notesMasters/notesMaster1.xml" Id="Re4934f51a8d9483c" /><Relationship Type="http://schemas.openxmlformats.org/officeDocument/2006/relationships/presProps" Target="/ppt/presProps.xml" Id="Rf55c0c3447b34c24" /><Relationship Type="http://schemas.openxmlformats.org/officeDocument/2006/relationships/viewProps" Target="/ppt/viewProps.xml" Id="R3d7ec8341eea4996" /><Relationship Type="http://schemas.openxmlformats.org/officeDocument/2006/relationships/tableStyles" Target="/ppt/tableStyles.xml" Id="R4edf7d2b559d4661" /><Relationship Type="http://schemas.openxmlformats.org/officeDocument/2006/relationships/slide" Target="/ppt/slides/slide1.xml" Id="Rb2d4c3ab44bb4e64" /><Relationship Type="http://schemas.openxmlformats.org/officeDocument/2006/relationships/slide" Target="/ppt/slides/slide2.xml" Id="R40a5fc61297c46b1" /><Relationship Type="http://schemas.openxmlformats.org/officeDocument/2006/relationships/slide" Target="/ppt/slides/slide3.xml" Id="R3bfa66b10bdd4a03" /><Relationship Type="http://schemas.openxmlformats.org/officeDocument/2006/relationships/slide" Target="/ppt/slides/slide4.xml" Id="R686c56a22e6b4189" /><Relationship Type="http://schemas.openxmlformats.org/officeDocument/2006/relationships/slide" Target="/ppt/slides/slide5.xml" Id="Rc663a82ab05c4251" /><Relationship Type="http://schemas.openxmlformats.org/officeDocument/2006/relationships/slide" Target="/ppt/slides/slide6.xml" Id="R1d3ec8f3056b4777" /><Relationship Type="http://schemas.openxmlformats.org/officeDocument/2006/relationships/slide" Target="/ppt/slides/slide7.xml" Id="Rb148e22414344e76" /><Relationship Type="http://schemas.openxmlformats.org/officeDocument/2006/relationships/slide" Target="/ppt/slides/slide8.xml" Id="R826c372eb81e48f0" /><Relationship Type="http://schemas.openxmlformats.org/officeDocument/2006/relationships/slide" Target="/ppt/slides/slide9.xml" Id="Rfd388aec41324034" /><Relationship Type="http://schemas.openxmlformats.org/officeDocument/2006/relationships/slide" Target="/ppt/slides/slide10.xml" Id="R19a6d883e3fb48fa" /><Relationship Type="http://schemas.openxmlformats.org/officeDocument/2006/relationships/slide" Target="/ppt/slides/slide11.xml" Id="R347c81d8bf864179" /><Relationship Type="http://schemas.openxmlformats.org/officeDocument/2006/relationships/slide" Target="/ppt/slides/slide12.xml" Id="R2e7b83ba44b447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ab15bcc7f74d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22f679e194eb2" /><Relationship Type="http://schemas.openxmlformats.org/officeDocument/2006/relationships/notesMaster" Target="/ppt/notesMasters/notesMaster1.xml" Id="R1cbfd527193f4a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f85e7bb1684017" /><Relationship Type="http://schemas.openxmlformats.org/officeDocument/2006/relationships/notesMaster" Target="/ppt/notesMasters/notesMaster1.xml" Id="Rb359f77a9e3543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9e22782454d40" /><Relationship Type="http://schemas.openxmlformats.org/officeDocument/2006/relationships/notesMaster" Target="/ppt/notesMasters/notesMaster1.xml" Id="R6db2fca59b5b47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af8d5fd65a4b30" /><Relationship Type="http://schemas.openxmlformats.org/officeDocument/2006/relationships/notesMaster" Target="/ppt/notesMasters/notesMaster1.xml" Id="R924b40988f734f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ebfd0602c24484" /><Relationship Type="http://schemas.openxmlformats.org/officeDocument/2006/relationships/notesMaster" Target="/ppt/notesMasters/notesMaster1.xml" Id="Re4326439ed244c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7e3a7483fd4a62" /><Relationship Type="http://schemas.openxmlformats.org/officeDocument/2006/relationships/notesMaster" Target="/ppt/notesMasters/notesMaster1.xml" Id="Rb76cd0ba6d7a4f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75b09827e14193" /><Relationship Type="http://schemas.openxmlformats.org/officeDocument/2006/relationships/notesMaster" Target="/ppt/notesMasters/notesMaster1.xml" Id="R0376188999c948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fa97eb4b7043a2" /><Relationship Type="http://schemas.openxmlformats.org/officeDocument/2006/relationships/notesMaster" Target="/ppt/notesMasters/notesMaster1.xml" Id="R3889131d133748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7d387fd9794606" /><Relationship Type="http://schemas.openxmlformats.org/officeDocument/2006/relationships/notesMaster" Target="/ppt/notesMasters/notesMaster1.xml" Id="Rd47937c4a1e24e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979c016dcc4024" /><Relationship Type="http://schemas.openxmlformats.org/officeDocument/2006/relationships/notesMaster" Target="/ppt/notesMasters/notesMaster1.xml" Id="R954456b898664d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b9175fb861448b" /><Relationship Type="http://schemas.openxmlformats.org/officeDocument/2006/relationships/notesMaster" Target="/ppt/notesMasters/notesMaster1.xml" Id="R0c902d190c064a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deefe44a784921" /><Relationship Type="http://schemas.openxmlformats.org/officeDocument/2006/relationships/notesMaster" Target="/ppt/notesMasters/notesMaster1.xml" Id="Re1c4b78a943f46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1ccfb091042b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141596bde8a440a" /><Relationship Type="http://schemas.openxmlformats.org/officeDocument/2006/relationships/slideLayout" Target="/ppt/slideLayouts/slideLayout2.xml" Id="R548ccf0e52a24e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ccf0e52a24e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8690d301b94ecb" /><Relationship Type="http://schemas.openxmlformats.org/officeDocument/2006/relationships/notesSlide" Target="/ppt/notesSlides/notesSlide1.xml" Id="R80e132380d2147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3ddf2b0e574728" /><Relationship Type="http://schemas.openxmlformats.org/officeDocument/2006/relationships/notesSlide" Target="/ppt/notesSlides/notesSlide2.xml" Id="R8cc89fb8296b44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4e283c68594fd7" /><Relationship Type="http://schemas.openxmlformats.org/officeDocument/2006/relationships/notesSlide" Target="/ppt/notesSlides/notesSlide3.xml" Id="R50d4652a95e64c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75d0c25ef74e43" /><Relationship Type="http://schemas.openxmlformats.org/officeDocument/2006/relationships/notesSlide" Target="/ppt/notesSlides/notesSlide4.xml" Id="Rb91cbece00db4e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0a1df5eb444ba6" /><Relationship Type="http://schemas.openxmlformats.org/officeDocument/2006/relationships/notesSlide" Target="/ppt/notesSlides/notesSlide5.xml" Id="Rfa7e418d4c9f4b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166afd7e3245ae" /><Relationship Type="http://schemas.openxmlformats.org/officeDocument/2006/relationships/notesSlide" Target="/ppt/notesSlides/notesSlide6.xml" Id="R125d41f8b8ed4e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43efe04bfc48ef" /><Relationship Type="http://schemas.openxmlformats.org/officeDocument/2006/relationships/notesSlide" Target="/ppt/notesSlides/notesSlide7.xml" Id="Rd8343674ef6744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5c684345fb446d" /><Relationship Type="http://schemas.openxmlformats.org/officeDocument/2006/relationships/notesSlide" Target="/ppt/notesSlides/notesSlide8.xml" Id="R09c38f260c2447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49013cf3a34130" /><Relationship Type="http://schemas.openxmlformats.org/officeDocument/2006/relationships/notesSlide" Target="/ppt/notesSlides/notesSlide9.xml" Id="R0010df7a52fe48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e61868c9ed4e7c" /><Relationship Type="http://schemas.openxmlformats.org/officeDocument/2006/relationships/notesSlide" Target="/ppt/notesSlides/notesSlide10.xml" Id="Rba873e0af1d645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2b89443f14829" /><Relationship Type="http://schemas.openxmlformats.org/officeDocument/2006/relationships/notesSlide" Target="/ppt/notesSlides/notesSlide11.xml" Id="R9f832645873849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cb34271acc4e40" /><Relationship Type="http://schemas.openxmlformats.org/officeDocument/2006/relationships/notesSlide" Target="/ppt/notesSlides/notesSlide12.xml" Id="Reedc8510db5041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F8EB4-FDFF-44D5-8B18-BA33566D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48097AF6-949C-486D-9126-76791C0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2EDB35A7-E683-43C8-ACB1-D7F322F5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PROMESSA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FF0D8-1D47-434A-B58C-D02DEF9C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Data2Content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F92EF-9A16-4957-AB83-D262BD8E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85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A D2C trabalha enquanto o criador continua criando.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BF75B-A146-4D5F-87D9-AEDA97BE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O criador vive, posta e testa ideias. A plataforma observa sinais, propõe confirmações e transforma isso em um mapa útil.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4144-E2BC-4A74-AC79-2B7A7A6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19150"/>
            <a:ext cx="2571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BC6B4-2D3D-4294-900E-7ADC25D4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952500"/>
            <a:ext cx="2343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7EE40-507C-4CD1-B579-5A4557A8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06680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8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35E9D-95E7-4B7E-9A52-1169EF00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90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Seu mapa hoje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B3783-7D64-4ECC-9EC1-13830A5B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4DACF-91D9-400D-9EFC-67BA493D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85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2 posts analisados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E6FF5-82A9-46DC-AEC2-260DE4FA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B9B12-7690-44E1-967A-7002905A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1 novo sinal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92B33-9518-49CF-9A58-A3C73759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1771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F7DF6-6DDB-4B12-840B-75686FC6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813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1CF07-6591-473F-BDAE-77B68929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242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narrativo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58728-6A78-464C-8842-72DBEDF2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481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62852-AC78-4636-B246-1556E0B5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EC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ECE8"/>
                </a:solidFill>
                <a:latin typeface="Aptos"/>
                <a:ea typeface="Aptos"/>
                <a:cs typeface="Aptos"/>
              </a:rPr>
              <a:t>confirmado pelo criador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C7B0A-19CF-4C5E-9C23-C869B6CA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D02F7-3866-4199-8DDA-99C27A67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387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 proposta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E010F-F914-4FD6-943B-826DF054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6E09D-1D0F-401F-B9D8-856F7537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vida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D151A-8CBC-45F0-96EC-67458DB2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530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8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1CBC4-0CFD-4747-BA56-34E377D2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483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7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978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951D83-2B47-4ECE-8835-AF1B8F60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67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03466F-1F9E-46C1-916F-EF0C3F8B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102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posts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E7476-6DFB-4866-B73B-706B2763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530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8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875826-2F53-4FB5-A70C-B6EC46DC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483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7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978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3D857F-B4B8-4626-86A7-01AA711A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67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00B23-D6FE-4DF6-A636-974AE257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102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sinais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45BD23-7692-4EDF-8041-6D8DBBB8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5530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8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1FCBB7-8D94-42D8-A164-132261A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483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7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978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EB15B3-E8A5-4FEB-A9F1-435EF5C4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67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78DAB-17F0-4742-8B54-13A5EC92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4102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786F5F-CEE4-4C24-A65B-CBD010EF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C8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FC8C2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1B8BC5-ECBB-4BF8-BA4F-84E41DC1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FC8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FC8C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86321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F537AC-B089-4875-8BC9-9F45AD5B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CC19AD05-DC82-4A20-ACB3-BADE1537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5469AEB0-E6D0-44B4-9783-D7513201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HISTÓRIA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CA868-4148-41DD-9310-61BF31A1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52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jornada fica clara quando vira uma semana concreta.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3786A-4C06-46FC-A5B1-584E3EFC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 ponto forte não é pedir atenção constante. É aprender enquanto o criador segue criando.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446F6-2B5A-4FF8-985A-A5672408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8343C-737A-4EEA-9A60-3EB875DA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CB9DF-2E2D-4CD4-A619-5EE5750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814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A59EF-9A1A-446B-8D0A-768F168E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5B79E-A592-4CBD-8065-375163E0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CD717-CF00-4C1A-800C-6043CEC8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Dia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8CA88-B4BD-4EB9-91C7-5CD6E20E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1257300" cy="231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entra, conecta Instagram e responde 3 perguntas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519B0-ACDE-4036-8CE5-A6A7A480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DB420-F79B-413C-991A-F384B470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814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C2EC3-4ECD-445B-AEF6-0F8FF5BE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480AE-5777-4849-A202-1435428B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5A0B9-C6B4-44AB-8962-42EE9051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289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Dia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6EE98-1E33-4B91-A96C-C5DBD401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81350"/>
            <a:ext cx="1257300" cy="231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sobe um vídeo e recebe coerência antes de postar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B46B6-558E-4FFB-AE5F-CC845209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6DDEA-417A-4181-82C1-DDE64C20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814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29D92-8CFA-4322-99F6-38499F72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1480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B0ABA-2F77-4FFB-92C1-7FABF061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14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3F624-F72E-4D2B-8E19-3E7FAB31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576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Dia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F58D2-CF23-455E-B2C7-A187D982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0100"/>
            <a:ext cx="1257300" cy="231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posta no Instagram sem abrir a D2C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7871C7-326C-4BB3-A2C4-199AD585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C0529-E445-4A7E-B607-81B98555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814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0F3A7-F55F-442B-972D-2C4FD5C1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DD5A8E-9371-479B-9CC4-D8A16006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C2CE4-4342-4F54-9B0B-5272178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Dia 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BC9A7-E5FA-41D4-B379-0E7AC8F9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1257300" cy="231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volta e vê novos sinais detectados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982A93-E000-428F-8509-880EA29A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AE9D2C-F0D6-43D3-A617-36EFA181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A4BE94-2197-40EA-B896-E34397A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1480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A60C5E-B146-4187-929D-E6066C2B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14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697E17-6E82-4DB2-98EA-ED8BFC32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576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Semana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1F1D4-C596-422B-99A2-87AAB836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0100"/>
            <a:ext cx="1257300" cy="231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narrativa central é proposta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485262-7286-4122-BEC9-BDA0124E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5CEE63-25BF-4264-9A2A-347280D6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814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96B45-28DB-4F8E-A3DB-AEA81526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8605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C462ED-0B18-45D7-9FAF-820EED86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860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608482-1D3B-475E-88E0-E6751FA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289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Mês 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1CAC7C-510D-49EC-B033-1B321144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1257300" cy="231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mapa gera pautas e oportunidades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58358E-A8A8-425E-AEB4-DFCB0293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D8578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5CC914-1920-4BF6-A661-F3A5B757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85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82624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6CBAE5-5234-48B7-86D3-7B1FAC79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68914E83-1441-4EB8-ACE4-ACCAF0C4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F9FC637B-C163-40F0-B07E-4CE818CF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DIA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7B350-454B-4A59-ACCB-F23B12E0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mapa começa com intenção, não com um formulário.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1CEDC-9478-400A-A044-92EE44E7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Três perguntas curtas calibram a leitura. O Instagram pode enriquecer o mapa em segundo plano.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5C13B-86E6-45F2-BCF2-65EA0B07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85800"/>
            <a:ext cx="25717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B3CCB-8DE0-4E82-94F9-0E50581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819150"/>
            <a:ext cx="23431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086B0-FAB9-4EDC-A630-CCB4A4EE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334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8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F9999-098D-44A9-BA87-1081CE8B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Vamos construir seu mapa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0831B-AA57-4FC0-A91F-049A356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8A1B2-A752-4B7A-9229-04A86BEA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28842-8DA5-42A1-B442-352C78FA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Pergunta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3FF01-8E20-46C8-91AE-A2F4E06E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Por que você cria?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FC105-1A15-4962-9CA7-26214F4B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96591-7039-499D-BF3D-EDCB6781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F6F5F-C86B-47B3-A34F-8015BF6B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Pergunta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DFAB8-90D8-459D-B011-9983FA23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003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 que quer gerar?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B60D4-7EFD-4431-922F-86070D68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80A0E-2F0D-4493-8786-F99CA6B6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8E819-3D1D-472E-BE3E-54E705D2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Pergunta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BCDF3-A07B-4B4B-97F8-CE9C505D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 que não deve aparecer?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A31C8-38FF-4D6A-BD9A-0A6B331E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242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7F96A-E944-49F9-9517-A118770A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Conectar Instagram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697E2-D24F-4C2E-B511-60BDFD96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86042-95A7-42AF-AE18-32B76FF4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Primeiro sinal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249AB3-A0D0-4DC9-94E6-57CDE5FD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85D25-3974-48FE-856E-6AC4382A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A93344-2F02-482B-9B7F-C704ABC1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228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136911-8CDC-4F3F-A826-966DEFDD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228850" cy="2575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Gmail abre a experiência sem fricção.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DE1C37-5DC0-4521-851B-9D594627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A47AC9-5A47-4D80-A63A-1C8DB038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2BEE3C-9133-489E-9998-50D4388C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2228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FF67B5-69CA-4241-91E9-6690268D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2228850" cy="2575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Opcional, mas acelera o mapa.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43E3BE-5FB7-44E5-BB19-E82066D3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270411-83A6-473A-A5AB-0B6B445D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D7F56E-A422-497D-BB09-20774900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2228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Intenção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C9E54F-4C4F-401F-BD78-A350A0E8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228850" cy="2575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IA ganha contexto antes de interpretar.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DC53D1-B0A4-4A68-B2B6-17523B42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434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CCE71E-BF06-4244-8FAA-5AB855EC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434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28051E-F5C9-4856-9685-91AEFA77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86275"/>
            <a:ext cx="2228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Primeiro sinal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F8BD16-9CBE-4D7D-BBBC-00AD521E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2228850" cy="2575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plataforma propõe, o criador reage.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AA7CC5-7BF5-46C9-9797-05C580B9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06327E-E3CC-4727-A68D-C36EE98F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385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73152A-CDE5-4F9E-BBE6-31666CD8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D8578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5DA14F-DAF1-4604-8825-5E26855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85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7446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F3522A-6201-4E4A-B959-3CA2D8F7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9C47ED7-D262-4B9F-87D6-A3B7DA08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62E7F507-FE37-4BBD-AC47-5F532AE6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DIA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7DB31-9D13-40DD-90A6-E3DB2284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Antes de postar, ele usa a D2C para decidir com calma.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1EFD7-D7A3-460A-A3E1-42FD590D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Esse é o único momento que exige ação direta: quando o criador quer avaliar um vídeo específico.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B6DDC-7C3E-4DD7-B2F8-FD269A8C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F7898-D345-4B09-B381-F1818401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1526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A148F-AAA8-49F2-807A-6E7D0F32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1813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8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391CA-D5C0-48D2-B5A9-E6F866E4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Upload pré-postagem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33590-D970-4B7F-93FF-CF3BB234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0984C-F224-4D13-AB0C-0238AFB1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Vídeo novo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1BCBC-41AC-43CD-A5EF-6494C155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F8494-C7D7-4D95-87D1-3CA8E469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72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Analisar coerência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38713-21E2-447D-80C6-A7D0F1D0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3387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E370B-DF48-4373-91BD-3C87C350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291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B8B42-7237-4416-9673-C8E7E9DA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528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DC392-C3DB-424E-948B-131BC8CA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6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5998A-EE7E-4BDD-9320-660E7A97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9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narrativo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27FFB-FC4A-4928-906D-4536530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3434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49EF0-E022-4463-BA87-F9B8425E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52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EC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ECE8"/>
                </a:solidFill>
                <a:latin typeface="Aptos"/>
                <a:ea typeface="Aptos"/>
                <a:cs typeface="Aptos"/>
              </a:rPr>
              <a:t>confirmado pelo criador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03ABF-3E89-4930-BD42-B5F32D5B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2A0F1-E49A-43CE-BAD2-424EC944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291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5CD76-2821-45F8-B695-18B4A76E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857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CE8"/>
          </a:solidFill>
          <a:ln xmlns:a="http://schemas.openxmlformats.org/drawingml/2006/main" w="9525">
            <a:solidFill>
              <a:srgbClr val="9CCD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DC322-F0E8-470D-B9F9-EDDDEE37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476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E5B51-C328-40AF-9C36-86955F31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Veredito calmo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855BE-BFAC-4354-9761-26B0BB65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514600" cy="775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Este vídeo reforça sua narrativa central e usa 2 assets confirmados.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Próximo passo: postar ou ajustar.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AEE881-FA53-4F2C-9E6C-3236C6D5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D8578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A909F3-65C7-46B7-961B-AD457E2A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85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42003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576E85-3E7C-4905-9141-ED6FD15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087963E6-3240-4B38-A022-862F57DE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450D4C33-19B1-40F7-A2F4-17B5967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DIA 5-7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DF11A-B16E-4A8B-8C49-861D1152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Ele não abriu a D2C. Mesmo assim, o mapa aprendeu.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E911B-F9FA-4DB4-A052-781A646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714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 Instagram vira o fluxo passivo: a plataforma lê posts, captions, formatos e sinais recorrentes.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7894D-77DF-40C8-811E-26EEC150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1907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C1634-9427-4B57-BACE-11BB8709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1962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D5577-B043-4F1D-A67A-67A51734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2420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8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C6CC3-B26B-4BC2-A28C-C7BFC713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91261-619A-4142-A35F-91153573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0A0CB-D845-463B-966B-7C3DBB58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post rotina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31D14-DDA0-45FD-9172-A9DEB40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69612-C819-4AA1-820E-0FF61A62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post filhos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5BD37-9A70-42F6-B6E4-D1C7B109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90B75-4850-4358-90BF-8437D46C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6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6827"/>
                </a:solidFill>
                <a:latin typeface="Aptos"/>
                <a:ea typeface="Aptos"/>
                <a:cs typeface="Aptos"/>
              </a:rPr>
              <a:t>Reel manhã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FE3AD-B35E-40B2-AE29-FB0E48BA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862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7BEA7-D9BC-4565-A700-1B8A3785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814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D3139-15DC-4881-A0DF-2088DEDF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2667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06F97-D413-49F5-BD0D-ECB36BDA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4762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27CC1-C80C-479F-BDD8-740FB62D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4327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Leitura silenciosa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FAD32-EE44-4A26-8667-B535531D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95700"/>
            <a:ext cx="2324100" cy="814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2 posts analisados</a:t>
            </a:r>
          </a:p>
          <a:p xmlns:a="http://schemas.openxmlformats.org/drawingml/2006/main">
            <a:pPr algn="l">
              <a:defRPr sz="14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1 padrão recorrente</a:t>
            </a:r>
          </a:p>
          <a:p xmlns:a="http://schemas.openxmlformats.org/drawingml/2006/main">
            <a:pPr algn="l">
              <a:defRPr sz="14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1 território ganhando força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F5732-FAF6-4F80-B710-2B9856C8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862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DE89D-1FDA-463B-8B5D-8CD206CF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814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C3235-88E9-4E87-83AF-FF921AE0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667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2ED342-E223-469F-81F7-215745ED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476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9F59E-4215-4A02-9BB7-42F21C1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52775"/>
            <a:ext cx="2324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Quando ele volta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F9E0C-4D36-4366-99E2-0B27F74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324100" cy="2964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“Seus últimos 2 posts trouxeram novos sinais. Rotina doméstica parece um território do seu mapa. Confirma?”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B88095-B812-46B6-85CF-C1EC1E4E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BEB79D-B7A1-46B6-9136-ABD38512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895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9DDD5-3199-41B5-8BF6-363E6B14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D8578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39768-1580-437A-9F7C-A63ED02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85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07608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977E6-A86F-4A9A-A11D-964E363D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67C5FEA3-94B3-4AEA-A6BF-E365B360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0165AF92-0673-4F20-A1E4-813E9E47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SEMANA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0A003-BEA5-4DCF-BBE3-94CE5823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Sinais acumulados viram uma proposta de narrativa.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A3940-5A68-479D-B635-2F0646FE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IA não pergunta “qual é sua narrativa?”. Ela observa repetição, propõe e espera confirmação.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1F5D4-5705-4187-A8D1-E31122DD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EF422-DA9E-4BDA-B5F7-2F0BF7F4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vídeo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3EA8E-6791-4301-AAAD-A3729F35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5760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7C32B-DFF8-47B9-8972-25ACDC10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post rotina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FDC87-C968-4496-A753-8C2FF184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0515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86239-35C8-4B1E-80A0-0BF0620E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vídeo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62542-9B88-4E72-AAFB-74500F98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4A25C-26C3-4969-BE3F-CD6E4B68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338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caption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F9256-8394-44A2-BDA8-06772C4C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0515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5776F-96E7-45C0-B64B-A2458462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813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post família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92542-C860-40E1-B9AA-7F9B8E60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861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98A2C-17DF-4D36-8160-ADD0861B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D388D-C722-472F-A6F4-0ED3FA1C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CDA56-B3CB-40EB-BD58-C133AD05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47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37BF0-2ADF-447C-B180-DA45FFC4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67025"/>
            <a:ext cx="2895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Proposta ao criador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0A6D6-0832-4B9B-9E41-B70C4EB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2895600" cy="322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“Detectamos um fio recorrente: família como destino, não como rotina. Faz sentido como narrativa central?”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AFEE1D-D212-46C1-878B-B202850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8155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EA932-6C4B-4017-9624-2C4DF19F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577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12283-8B75-4B5E-B7FD-097D4973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81550"/>
            <a:ext cx="78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18439-A7BE-4B89-9894-C8FA0CF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5775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6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6827"/>
                </a:solidFill>
                <a:latin typeface="Aptos"/>
                <a:ea typeface="Aptos"/>
                <a:cs typeface="Aptos"/>
              </a:rPr>
              <a:t>Quase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7C1B2C-B42B-48FE-8101-203B869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78155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CF68E-D3EB-4CBE-8663-44DAE4FD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577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Não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135B0A-2739-4455-B504-070F1BBD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B76489-6206-421F-AC20-F71AC744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197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O mapa só avança quando o criador reconhece o sinal.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0A346-41CB-4428-8B6D-3ADC46EA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D8578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57FD9E-48E2-4554-ABAD-C2BBCBA7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85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01878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8F0A4-3D0D-4C49-A96F-9F4C619C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AE5A3E3F-08D4-46B3-A404-197DA48D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387D3471-64CD-497C-8A45-B07C6D20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MAPA VIVO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40E23-8B77-473E-99C7-8695B136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mapa maduro organiza identidade, matéria-prima, voz e forma.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3CBB1-539B-41F9-90F6-C26AEDB2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Ele não transforma o criador em nicho. Ele mostra onde a vida dele vira conteúdo coerente.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43FC1-C948-4EBD-AEAB-89C2C1A6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DCE84-5095-46DE-95CA-D1DE67EC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BB9AE-2289-4E62-B594-7C833DDE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narrativo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1390C-29AE-4F61-A54D-E3810E16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148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61A09-D67A-4FC5-B835-15733C0D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EC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ECE8"/>
                </a:solidFill>
                <a:latin typeface="Aptos"/>
                <a:ea typeface="Aptos"/>
                <a:cs typeface="Aptos"/>
              </a:rPr>
              <a:t>confirmado pelo criador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AB3D1-1AA3-4988-ABE5-AACD21F5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E14FE-9160-4169-BF38-9363D72C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B19BE-D578-472D-83B0-33FFB613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48025"/>
            <a:ext cx="2514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Territórios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08603-70C4-4327-81AC-44347E50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5146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onde a narrativa tem legitimidade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1D88A-9D60-45CA-BD29-B8F4EBFB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C6915-038B-4D2D-9DC6-989BCFDE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29598-9084-4572-8AE4-6756B232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DFE4F-21F0-4EBB-A07C-B3218403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76775"/>
            <a:ext cx="2514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Assets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C30A0-7BD1-4FC1-BC90-4B00FDAB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29200"/>
            <a:ext cx="25146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filhos, praia, rotina, casa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5B9D5-38D7-43A5-AE7C-8EE38FF5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53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A4F67-17A9-4D2F-A4C4-84378EF9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F36CF-318F-4BC8-BD0C-1FAD8FF8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8D534-2B32-49BC-93A8-BFC6EE85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48025"/>
            <a:ext cx="2514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Tom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B0688-E59E-410D-B885-370547C5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25146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íntimo-reflexivo, direto, humorístico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E19FC-FC2A-4F98-A164-55F8C1BF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DEF14-53F0-45D5-A8B3-AA969E62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339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40D3A9-4F6E-461C-B9BD-A3C590BE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339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3E4636-E5CA-4AD3-8084-F3AF0C50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76775"/>
            <a:ext cx="2514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Formatos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3F031-EE52-4EF6-95A7-B3D34F3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25146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Reel curto, carrossel, foto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C5BE69-DF14-4B57-AB38-058FCE8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1C98A-727F-48F9-9ED0-848E403F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D8578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E595AB-50F6-4BB1-BA18-75182AA7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85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91181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633A77-03B3-402B-93FD-03CC371E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634BED76-8E11-4AC0-8265-37028F1E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06AB690A-D17D-431E-97C5-5CA3C6D2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ASSETS + TOM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8DA7B-A532-41E0-B50D-B43887A8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mesmo asset muda quando o tom muda.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A276C-CD2F-4827-84EF-711604A5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Por isso a D2C não gera ideias genéricas. Ela combina matéria-prima real com a voz do criador.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8A086-5097-4162-98C5-F11844A9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9525">
            <a:solidFill>
              <a:srgbClr val="E6BC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7BC09-DEF6-41A0-9B02-25EF068A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12E92-72BE-4026-9A78-C0797B99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Asset detectado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EF25C-4402-41B8-AA87-B13A6770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2038350" cy="309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Praia apareceu com recorrência em vídeos, captions e cenário.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868B5-6B1B-48FE-98CF-47343B75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338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48971-4972-462A-AFF7-8298C9A4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CE8"/>
          </a:solidFill>
          <a:ln xmlns:a="http://schemas.openxmlformats.org/drawingml/2006/main" w="9525">
            <a:solidFill>
              <a:srgbClr val="9CCD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81A00-C304-4180-8400-75FD5BC9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885FB-B563-4E31-B648-04EA8F13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5277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Tom confirmado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CA365-88D9-438A-8DF3-15639EE0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05200"/>
            <a:ext cx="2038350" cy="309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Íntimo-reflexivo: o conteúdo soa como presença e pausa.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E62AE-F532-4261-951C-9B950B13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36DBB-D780-4782-9B3D-7AE8541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A4096-13EB-40F4-824D-5D194576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47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5FF66-5117-4131-99BF-48661EFD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62275"/>
            <a:ext cx="2895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Possibilidade de pauta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CDCBE-F99C-464C-AFE7-AD75A118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2895600" cy="322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“O que a praia ensina sobre reconectar com a família sem transformar descanso em performance.”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F5F02-D6A4-4788-B63E-FCF2F0EA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578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1DFCF-ECBD-4BB5-8C8C-837E08BE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340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Reflexivo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18C52-EF04-4642-A461-7A7A3F4F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57850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B6B9C-6F9E-4633-A9EC-2C0FE787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7340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6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6827"/>
                </a:solidFill>
                <a:latin typeface="Aptos"/>
                <a:ea typeface="Aptos"/>
                <a:cs typeface="Aptos"/>
              </a:rPr>
              <a:t>Humorístico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71D6B-41C9-4A5C-9784-BB99EF23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57850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39846-CA7D-4C77-9772-5F9CBD9F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7340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Direto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A55FBD-F7EF-4CE3-829D-E8A185D7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102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666CB-D2D8-4B87-87E7-319BECAC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769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mesmo asset, conteúdos diferentes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495D57-61C9-47BF-AE9E-CDC78D29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D8578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011BA-968A-42AD-ACCA-48B41006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85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02075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B9F95-07AF-4EE2-89B4-4807062E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E7EA6DD6-B24C-4959-8575-F8E32547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C3DED58B-1790-447E-900E-DC7B6080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COERÊNCIA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FC882-B655-4DE2-B5FA-CBFA01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Coerência é a ponte entre mapa e postagem.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7A8CE-706E-4066-9262-D2D84B57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 veredito nunca bloqueia. Ele traduz o vídeo em uma decisão consciente.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70801-FD6B-4254-9FC7-06852DE2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9525">
            <a:solidFill>
              <a:srgbClr val="E6BC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7B149-4790-4DA0-BDCD-B0EA1C7B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388DF-D513-4BFB-829C-2EDD71F3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1943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Vídeo novo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12C7C-5FA9-4EA4-95FC-4E45F7E4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943100" cy="309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pré-postagem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F3167-AFC0-4D78-B31E-F1BBD1B4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0BF6E-9DC6-418E-95AF-4DB8C26C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480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35A85-876A-4B1A-80CC-224B91A3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2476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8EC04-8653-461D-A2DE-1F887665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391E1-4224-4CC1-BA2C-DF622C0D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narrativo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45E8E-2FCC-43BE-9FB8-FD56DDC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481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6FB9E-EE3E-4041-9C0F-A4CB9854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57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EC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ECE8"/>
                </a:solidFill>
                <a:latin typeface="Aptos"/>
                <a:ea typeface="Aptos"/>
                <a:cs typeface="Aptos"/>
              </a:rPr>
              <a:t>confirmado pelo criador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C55C8-0988-44D0-B3F0-177867B7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0BCA3-C3C7-40F1-8FE9-CF01B5A1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480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D5069-2006-48C8-8F39-A61E18CD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E3E36-4035-4F60-8F74-E551EBF2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78F55-C52F-4D7F-BA12-654754CD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76525"/>
            <a:ext cx="2457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Reforça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FD5356-E583-4D39-949F-BEF43E4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2895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confirma o padrão central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52E60-1785-41F8-B10F-2C5D762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CA578-4F5E-4AA2-BFCA-A66B4FAA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01288-8E50-4788-AC3D-2F596BD0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57575"/>
            <a:ext cx="2457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Experimento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4C0B22-0ABC-4CFE-B94E-70D8ABC5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abre uma adjacente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FE299-AE73-44D4-AEE2-D48308C6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A64A6-30CD-4854-A8BB-07DE9A5C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06B631-B54C-4ACD-AD6C-928679F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38625"/>
            <a:ext cx="2457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Desvio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F0CF76-D5DB-473F-AC9C-75E9E15F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9105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pode ser intencional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264004-7388-4DE2-A373-9675500D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68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F105F9-FD6D-4200-A7CB-5121F16B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6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48ACE8-2549-4184-99C1-3BB0C43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19675"/>
            <a:ext cx="2457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Primeira leitura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A6C113-6EC7-4484-81B6-981E8206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7210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ainda constrói o mapa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CA2BB9-DB60-4523-867C-38579ECF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292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AA4030-6BAD-4D01-970C-5EB1B3D9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054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“Foi uma exploração intencional?”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CA41E8-0CCD-4263-979F-A778A59F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D8578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91D73C-2BCE-461C-A435-58F0C0B6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85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2346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1447C2-C2B4-43B1-849F-CD027149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1235B2E-52D7-4D04-9FD6-CF6C4269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B0D6944A-C2E4-4C1C-AE29-38FE2A8A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CRIAÇÃO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D4D49-80B9-4956-B907-D200383F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pauta vem do mapa, não de tendências.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0F92D-0A88-4320-A072-E60B8E2E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Quando narrativa e territórios estão confirmados, a D2C já sabe de onde partir.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43902-FB18-4EFF-A533-310CA72E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162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B662D-5C64-499B-A047-02099DF7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00C33-8E73-4614-AFB3-158BC70C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Narrativa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E7018-2215-4A75-AE31-C80C4BBF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família como destino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907AE-FE24-49D9-9061-5466575A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162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CC9DD-2131-42A2-B290-CF944399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0CDBE-A362-4EAA-9669-BA2FA2DC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Território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4505A-9C6F-40F0-841C-D9404BE1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rotina doméstica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F5202-A2C3-4D23-AAF6-E98C5F85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62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E0EC9-C40B-4B2D-A088-C1322A3C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359B3-4200-41FA-BE82-DA894651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473DD-0EB3-4E37-9490-382E400D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filhos + manhã em casa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4162B-6B2F-44DD-9EEA-C6CE2595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162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E6F32-FD4B-487F-A876-14AF5DEC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3EC7D-2B85-4C28-9128-721DC4E6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B250F-C79C-4AC2-A68C-7A1086D1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053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íntimo-reflexivo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E502B-C5E1-4192-90F7-9995903A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3162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C5F68-F7E5-468F-AEDC-AE13DE83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696A3-75A4-404D-82EC-7F1A6837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Formato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FDBCA3-0E65-4EA6-BE97-4809E3ED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Reel curto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4399-A3BF-4AD6-A369-2EA4F62D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481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EADDBB-FAB3-46C1-955D-C5C85BBD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433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A134F-46D4-4869-9315-AD6D5E4B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14650"/>
            <a:ext cx="53149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9584A-00CF-44DA-94E8-955A9B0E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14650"/>
            <a:ext cx="476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5E779D-BC94-449C-B8F7-4C35E1D8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57525"/>
            <a:ext cx="497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Pauta gerada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5B3716-291A-4A57-BB26-8DD08176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09950"/>
            <a:ext cx="4972050" cy="1177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Título: O momento que ninguém fala sobre segunda de manhã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Gancho: “Tem dia em que família parece logística. Mas é ali que a presença aparece.”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Por que faz sentido: usa um asset real, mantém o tom e reforça a narrativa sem virar fórmula.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5C2407-71FB-4361-94E9-8580F321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0960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0950DB-3213-4831-9E3F-48738FA8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722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Nunca: algoritmo, tendência ou viralização.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F00FF0-0FF2-48CB-AFF8-747F1CD0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D8578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A2C138-69D2-4A6B-B9E4-75457AA1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85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71472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332214-B0E7-436F-8370-92D0BB9F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A7586D73-C92C-4E20-920B-7517301D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35964A4E-BCF7-47F3-8EB2-3ED8F7B3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DEPOIS DO MAPA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FF819-1179-44D4-86B0-8EF39886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As oportunidades deixam de ser genéricas.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24231-9992-4025-A6F5-6FE8C0E8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704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Collabs, monetização e OS diário aparecem como consequência do mapa confirmado.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42700-58B5-4E01-9C5A-AC4BE0B3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476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D24E9-B944-4DDC-B07D-1650689D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12BA1-CDAD-4EA0-973D-02A4ED49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narrativo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855BF-7943-47D8-9AA4-87AC74F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291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38F10-162B-448D-B645-3EA9534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EC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ECE8"/>
                </a:solidFill>
                <a:latin typeface="Aptos"/>
                <a:ea typeface="Aptos"/>
                <a:cs typeface="Aptos"/>
              </a:rPr>
              <a:t>confirmado pelo criador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5BAFF-1364-4210-8684-03E4BB15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719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355C7-D3CF-466F-8BE3-BB807B39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671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0A84F-8B5E-4BBD-92AC-E7A31A64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24150"/>
            <a:ext cx="2762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9525">
            <a:solidFill>
              <a:srgbClr val="BCD0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F6E07-1A72-40FA-A18B-02808543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241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5ECF1-52C1-48B2-B76B-2A86638E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67025"/>
            <a:ext cx="2419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Collabs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D84E7-7BF7-4F84-8500-B8C6FD0B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19450"/>
            <a:ext cx="2419350" cy="2575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criadores com narrativas compatíveis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204B5-03A7-4650-B157-81289780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95750"/>
            <a:ext cx="2762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BD"/>
          </a:solidFill>
          <a:ln xmlns:a="http://schemas.openxmlformats.org/drawingml/2006/main" w="9525">
            <a:solidFill>
              <a:srgbClr val="E2C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6E88E-34B8-4F2C-A372-447EBD3B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957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11CA3-24A7-4C44-8A18-3C45994F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38625"/>
            <a:ext cx="2419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A6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6827"/>
                </a:solidFill>
                <a:latin typeface="Aptos"/>
                <a:ea typeface="Aptos"/>
                <a:cs typeface="Aptos"/>
              </a:rPr>
              <a:t>Monetização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4F84A-D132-48CD-9C75-678524CB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91050"/>
            <a:ext cx="2419350" cy="2575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territórios de marca com fit narrativo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83491-A267-43CB-9E62-61EA951D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92826-7764-42A6-9706-3D1B2FE5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D0A87-B9A2-4856-B6C6-94B4A593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38525"/>
            <a:ext cx="2514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OS diário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18528-37CA-4718-817B-669773E4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2514600" cy="775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2 posts analisados</a:t>
            </a:r>
          </a:p>
          <a:p xmlns:a="http://schemas.openxmlformats.org/drawingml/2006/main">
            <a:pPr algn="l">
              <a:defRPr sz="13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1 novo asset detectado</a:t>
            </a:r>
          </a:p>
          <a:p xmlns:a="http://schemas.openxmlformats.org/drawingml/2006/main">
            <a:pPr algn="l">
              <a:defRPr sz="13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1 pauta nova no mapa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4F507-ADDA-4645-B1F0-CBC3FD7B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53100"/>
            <a:ext cx="538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91E31-499C-409E-A489-D7214442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829300"/>
            <a:ext cx="519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 criador volta para ver o que o mapa aprendeu.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5FA9B-6714-46DF-8902-94580F91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D8578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BEA8DE-5702-4988-AC38-A72AD954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85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85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49889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9C8353-BD98-40B4-8317-3BCE48F1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37FAAAE3-56AF-4726-97BF-5DBE733B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01C14BC3-71EA-4FAF-AA98-3C38576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B352F-6FA7-4280-8447-1CD24B72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695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Construir na mesma ordem que o criador vive.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F91E5-6B8A-413E-A9F7-431C78F0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A experiência avança de intenção para mapa, depois para criação e oportunidades.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0867E-D0F8-4C9C-9213-06CF7D3E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988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001A7-008C-41AC-8AE9-F99ADD5D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9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54988-FA57-4909-AC56-9839200C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38394-D2C8-4A9F-8C2D-9055C67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2C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D2C6F-DF50-4488-91A0-AED528C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A4586-A088-4ED5-A383-6F8BEF3B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Entrada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51135-906F-401E-9493-58FBB9EC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219200" cy="244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CC"/>
                </a:solidFill>
                <a:latin typeface="Aptos"/>
                <a:ea typeface="Aptos"/>
                <a:cs typeface="Aptos"/>
              </a:rPr>
              <a:t>onboarding + primeiro sinal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0D771-3A55-4E18-AFA3-EF0079A9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9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B8300-8C7F-411D-A686-0A227342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052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419F6-1650-4A9E-B699-6B45C603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053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2C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5749C-9B97-4DE9-8EA3-5CB32A41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05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B3B40-0B0C-4F74-B26E-CF00460B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48175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AD76C-123A-4C9F-9FAB-D6627945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00600"/>
            <a:ext cx="1219200" cy="244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CC"/>
                </a:solidFill>
                <a:latin typeface="Aptos"/>
                <a:ea typeface="Aptos"/>
                <a:cs typeface="Aptos"/>
              </a:rPr>
              <a:t>confirmações e Stream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B741C-0CB1-463F-900D-7292FCC3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09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2F424-646F-40B1-AED0-CD23A485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052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94EAF-687A-449B-AE78-FA094490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2C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CA48B-7884-48ED-8B44-F0EF01A4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CBDD7-0C11-442A-A25E-C624E4FE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48175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Coerência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F02BF-77FC-4448-B40A-24FB3D13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00600"/>
            <a:ext cx="1219200" cy="244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CC"/>
                </a:solidFill>
                <a:latin typeface="Aptos"/>
                <a:ea typeface="Aptos"/>
                <a:cs typeface="Aptos"/>
              </a:rPr>
              <a:t>upload pré-postagem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A0CF32-902C-4E41-8B96-CA51F00D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09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C64D80-DD2C-4EB5-ABCE-77DCFC45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052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BB9E5E-9432-4C9B-A905-803EA9BE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053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2C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6B59C-0E16-415F-9A15-69980B32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05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23DFE5-DCF1-4F2A-949E-F806474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48175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Criação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6B4EB8-DEB7-4513-B79B-C7DF64C2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1219200" cy="244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CC"/>
                </a:solidFill>
                <a:latin typeface="Aptos"/>
                <a:ea typeface="Aptos"/>
                <a:cs typeface="Aptos"/>
              </a:rPr>
              <a:t>pautas do mapa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08C72E-7FCA-4195-B84C-47A2B86C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09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E79223-D30C-4F81-8482-DA630322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052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EC3D7F-3C17-437E-8243-87A96D8B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053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2C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EAFD7F-B92E-46BF-B2A8-5ACF6A30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05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F35146-24DB-4C85-94BE-541CB15E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48175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Oportunidades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7D5850-317F-4558-8BCA-9A123D1C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00600"/>
            <a:ext cx="1219200" cy="244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CC"/>
                </a:solidFill>
                <a:latin typeface="Aptos"/>
                <a:ea typeface="Aptos"/>
                <a:cs typeface="Aptos"/>
              </a:rPr>
              <a:t>collabs, marcas e OS diário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4AA4CD-D0B2-4615-8CD8-698A6912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09650"/>
            <a:ext cx="3238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2C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521009-1716-4F3A-8B3B-C3BC330A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09650"/>
            <a:ext cx="4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6F0665-17FF-4445-B278-666F9060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52525"/>
            <a:ext cx="2895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Regra de produto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18EBE0-51F4-4A82-8482-9B77B5E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2895600" cy="2964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5D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5DE"/>
                </a:solidFill>
                <a:latin typeface="Aptos"/>
                <a:ea typeface="Aptos"/>
                <a:cs typeface="Aptos"/>
              </a:rPr>
              <a:t>Nada de monetização antes de clareza narrativa. Primeiro o mapa, depois as oportunidades.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7AB844-4338-4350-9DA1-A46CAB0D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C8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FC8C2"/>
                </a:solidFill>
                <a:latin typeface="Aptos"/>
                <a:ea typeface="Aptos"/>
                <a:cs typeface="Aptos"/>
              </a:rPr>
              <a:t>D2C Jornada do Criador - versão refinada para usuário leigo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7631B1-E443-43EA-B873-8EDF82E6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FC8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FC8C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2011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2026-05-26T18:01:29.4920000Z</dcterms:created>
  <dcterms:modified xsi:type="dcterms:W3CDTF">2026-05-26T18:01:29.4920000Z</dcterms:modified>
</coreProperties>
</file>