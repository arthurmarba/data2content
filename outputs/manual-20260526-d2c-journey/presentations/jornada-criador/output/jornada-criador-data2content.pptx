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61cb2957614e4c" /><Relationship Type="http://schemas.openxmlformats.org/officeDocument/2006/relationships/extended-properties" Target="/docProps/app.xml" Id="R398121e35a2a4a22" /><Relationship Type="http://schemas.openxmlformats.org/officeDocument/2006/relationships/officeDocument" Target="/ppt/presentation.xml" Id="Rd4a2ce176b1547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48bc312df941eb"/>
  </p:sldMasterIdLst>
  <p:notesMasterIdLst>
    <p:notesMasterId xmlns:r="http://schemas.openxmlformats.org/officeDocument/2006/relationships" r:id="Rcacf7099a5c0478f"/>
  </p:notesMasterIdLst>
  <p:sldIdLst>
    <p:sldId xmlns:r="http://schemas.openxmlformats.org/officeDocument/2006/relationships" id="256" r:id="Rb5734b8ff0d94726"/>
    <p:sldId xmlns:r="http://schemas.openxmlformats.org/officeDocument/2006/relationships" id="257" r:id="Rc6d6f1ba62f54ddb"/>
    <p:sldId xmlns:r="http://schemas.openxmlformats.org/officeDocument/2006/relationships" id="258" r:id="Raab44d07f57f4fd1"/>
    <p:sldId xmlns:r="http://schemas.openxmlformats.org/officeDocument/2006/relationships" id="259" r:id="Ra746a9f20a2b40b2"/>
    <p:sldId xmlns:r="http://schemas.openxmlformats.org/officeDocument/2006/relationships" id="260" r:id="R2c74ced98fc64e04"/>
    <p:sldId xmlns:r="http://schemas.openxmlformats.org/officeDocument/2006/relationships" id="261" r:id="R5265c90bfcf047ee"/>
    <p:sldId xmlns:r="http://schemas.openxmlformats.org/officeDocument/2006/relationships" id="262" r:id="R62037d9de89d45c3"/>
    <p:sldId xmlns:r="http://schemas.openxmlformats.org/officeDocument/2006/relationships" id="263" r:id="Rc8a358b667db4190"/>
    <p:sldId xmlns:r="http://schemas.openxmlformats.org/officeDocument/2006/relationships" id="264" r:id="Rff31891816064b8a"/>
    <p:sldId xmlns:r="http://schemas.openxmlformats.org/officeDocument/2006/relationships" id="265" r:id="R497bab9526754635"/>
    <p:sldId xmlns:r="http://schemas.openxmlformats.org/officeDocument/2006/relationships" id="266" r:id="R8f85cf1ff55f4fe5"/>
    <p:sldId xmlns:r="http://schemas.openxmlformats.org/officeDocument/2006/relationships" id="267" r:id="R836ed4f3baac424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48bc312df941eb" /><Relationship Type="http://schemas.openxmlformats.org/officeDocument/2006/relationships/theme" Target="/ppt/theme/theme1.xml" Id="R0b6da83ad8e04c5b" /><Relationship Type="http://schemas.openxmlformats.org/officeDocument/2006/relationships/notesMaster" Target="/ppt/notesMasters/notesMaster1.xml" Id="Rcacf7099a5c0478f" /><Relationship Type="http://schemas.openxmlformats.org/officeDocument/2006/relationships/presProps" Target="/ppt/presProps.xml" Id="R6512768946484a7a" /><Relationship Type="http://schemas.openxmlformats.org/officeDocument/2006/relationships/viewProps" Target="/ppt/viewProps.xml" Id="R1b82af25b44e4a7d" /><Relationship Type="http://schemas.openxmlformats.org/officeDocument/2006/relationships/tableStyles" Target="/ppt/tableStyles.xml" Id="R217be4ac6bcc429d" /><Relationship Type="http://schemas.openxmlformats.org/officeDocument/2006/relationships/slide" Target="/ppt/slides/slide1.xml" Id="Rb5734b8ff0d94726" /><Relationship Type="http://schemas.openxmlformats.org/officeDocument/2006/relationships/slide" Target="/ppt/slides/slide2.xml" Id="Rc6d6f1ba62f54ddb" /><Relationship Type="http://schemas.openxmlformats.org/officeDocument/2006/relationships/slide" Target="/ppt/slides/slide3.xml" Id="Raab44d07f57f4fd1" /><Relationship Type="http://schemas.openxmlformats.org/officeDocument/2006/relationships/slide" Target="/ppt/slides/slide4.xml" Id="Ra746a9f20a2b40b2" /><Relationship Type="http://schemas.openxmlformats.org/officeDocument/2006/relationships/slide" Target="/ppt/slides/slide5.xml" Id="R2c74ced98fc64e04" /><Relationship Type="http://schemas.openxmlformats.org/officeDocument/2006/relationships/slide" Target="/ppt/slides/slide6.xml" Id="R5265c90bfcf047ee" /><Relationship Type="http://schemas.openxmlformats.org/officeDocument/2006/relationships/slide" Target="/ppt/slides/slide7.xml" Id="R62037d9de89d45c3" /><Relationship Type="http://schemas.openxmlformats.org/officeDocument/2006/relationships/slide" Target="/ppt/slides/slide8.xml" Id="Rc8a358b667db4190" /><Relationship Type="http://schemas.openxmlformats.org/officeDocument/2006/relationships/slide" Target="/ppt/slides/slide9.xml" Id="Rff31891816064b8a" /><Relationship Type="http://schemas.openxmlformats.org/officeDocument/2006/relationships/slide" Target="/ppt/slides/slide10.xml" Id="R497bab9526754635" /><Relationship Type="http://schemas.openxmlformats.org/officeDocument/2006/relationships/slide" Target="/ppt/slides/slide11.xml" Id="R8f85cf1ff55f4fe5" /><Relationship Type="http://schemas.openxmlformats.org/officeDocument/2006/relationships/slide" Target="/ppt/slides/slide12.xml" Id="R836ed4f3baac42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fae6addcc2441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c684625f9c4c74" /><Relationship Type="http://schemas.openxmlformats.org/officeDocument/2006/relationships/notesMaster" Target="/ppt/notesMasters/notesMaster1.xml" Id="R29e7d7f627a745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ac8068aeb941d2" /><Relationship Type="http://schemas.openxmlformats.org/officeDocument/2006/relationships/notesMaster" Target="/ppt/notesMasters/notesMaster1.xml" Id="R13323c06520b46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b92fd911c2425b" /><Relationship Type="http://schemas.openxmlformats.org/officeDocument/2006/relationships/notesMaster" Target="/ppt/notesMasters/notesMaster1.xml" Id="R4780492a4e4944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32cddc66844679" /><Relationship Type="http://schemas.openxmlformats.org/officeDocument/2006/relationships/notesMaster" Target="/ppt/notesMasters/notesMaster1.xml" Id="R302184ff281a44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3085880f18454d" /><Relationship Type="http://schemas.openxmlformats.org/officeDocument/2006/relationships/notesMaster" Target="/ppt/notesMasters/notesMaster1.xml" Id="R6c9ac4e5112442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4fb3547bf540d4" /><Relationship Type="http://schemas.openxmlformats.org/officeDocument/2006/relationships/notesMaster" Target="/ppt/notesMasters/notesMaster1.xml" Id="Rad25e423726e43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6f2b5425d74d5c" /><Relationship Type="http://schemas.openxmlformats.org/officeDocument/2006/relationships/notesMaster" Target="/ppt/notesMasters/notesMaster1.xml" Id="Rb28cd03645f849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cb84ff691940b2" /><Relationship Type="http://schemas.openxmlformats.org/officeDocument/2006/relationships/notesMaster" Target="/ppt/notesMasters/notesMaster1.xml" Id="R72c3b598879748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edec6a8bbf47a3" /><Relationship Type="http://schemas.openxmlformats.org/officeDocument/2006/relationships/notesMaster" Target="/ppt/notesMasters/notesMaster1.xml" Id="R6e515f93dcd94e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28a9e2ecf74d25" /><Relationship Type="http://schemas.openxmlformats.org/officeDocument/2006/relationships/notesMaster" Target="/ppt/notesMasters/notesMaster1.xml" Id="R1d5c95f44f224e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3d7e05cb6145c5" /><Relationship Type="http://schemas.openxmlformats.org/officeDocument/2006/relationships/notesMaster" Target="/ppt/notesMasters/notesMaster1.xml" Id="Rd148bb97794349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b65dad72394e8c" /><Relationship Type="http://schemas.openxmlformats.org/officeDocument/2006/relationships/notesMaster" Target="/ppt/notesMasters/notesMaster1.xml" Id="R44b14dcdcb3d4c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ca988c1c2b411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dd91c18fa42477e" /><Relationship Type="http://schemas.openxmlformats.org/officeDocument/2006/relationships/slideLayout" Target="/ppt/slideLayouts/slideLayout2.xml" Id="Refa5dc9cd83b4e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a5dc9cd83b4e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a3b034c3c5463d" /><Relationship Type="http://schemas.openxmlformats.org/officeDocument/2006/relationships/notesSlide" Target="/ppt/notesSlides/notesSlide1.xml" Id="R6e286f74719e4e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363354eebe4d00" /><Relationship Type="http://schemas.openxmlformats.org/officeDocument/2006/relationships/notesSlide" Target="/ppt/notesSlides/notesSlide2.xml" Id="Rcaf10b87d67640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bd045804904eee" /><Relationship Type="http://schemas.openxmlformats.org/officeDocument/2006/relationships/notesSlide" Target="/ppt/notesSlides/notesSlide3.xml" Id="R999273b3bb7842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26cfc5aeed4e2a" /><Relationship Type="http://schemas.openxmlformats.org/officeDocument/2006/relationships/notesSlide" Target="/ppt/notesSlides/notesSlide4.xml" Id="R313baffcad924c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86ab7a78c74e33" /><Relationship Type="http://schemas.openxmlformats.org/officeDocument/2006/relationships/notesSlide" Target="/ppt/notesSlides/notesSlide5.xml" Id="Ra383c3d150834a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0cb5bef3ff44dc" /><Relationship Type="http://schemas.openxmlformats.org/officeDocument/2006/relationships/notesSlide" Target="/ppt/notesSlides/notesSlide6.xml" Id="R3d4e98daa50048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e25de87ec043c3" /><Relationship Type="http://schemas.openxmlformats.org/officeDocument/2006/relationships/notesSlide" Target="/ppt/notesSlides/notesSlide7.xml" Id="Re8d80f5eb7d048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d69eff9d064a25" /><Relationship Type="http://schemas.openxmlformats.org/officeDocument/2006/relationships/notesSlide" Target="/ppt/notesSlides/notesSlide8.xml" Id="R88666671c5c64c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e6811270164429" /><Relationship Type="http://schemas.openxmlformats.org/officeDocument/2006/relationships/notesSlide" Target="/ppt/notesSlides/notesSlide9.xml" Id="R6fbc1381571a4e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7e91033dbf448d" /><Relationship Type="http://schemas.openxmlformats.org/officeDocument/2006/relationships/notesSlide" Target="/ppt/notesSlides/notesSlide10.xml" Id="R54a2186543d74e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1f5e13231f4939" /><Relationship Type="http://schemas.openxmlformats.org/officeDocument/2006/relationships/notesSlide" Target="/ppt/notesSlides/notesSlide11.xml" Id="R529ac10261c540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49c0ffbcd64cad" /><Relationship Type="http://schemas.openxmlformats.org/officeDocument/2006/relationships/notesSlide" Target="/ppt/notesSlides/notesSlide12.xml" Id="Re739d15d7fb54eb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A6D95F-6903-4664-A3FE-F0A8E543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8FD1FDE7-4A3E-442A-B622-1EE09FEC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F97BC185-00C9-4EAC-9CF4-33DAB31A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JORNADA DO CRIADOR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5EA8F-3FA8-4166-A751-91FFC952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Data2Content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FF7A5-E1F5-452F-BB9B-4FFC2135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572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A plataforma que transforma vida em mapa narrativo.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7C7C2-3D15-478E-8E81-B42120D5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628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Para o criador leigo, a promessa é simples: entender o que ele já constrói, mostrar o que faz sentido e só depois ajudar a criar, distribuir e monetizar.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55B50-0F0E-40CB-BECB-FCAB9245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914400"/>
            <a:ext cx="32004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A31"/>
          </a:solidFill>
          <a:ln xmlns:a="http://schemas.openxmlformats.org/drawingml/2006/main" w="9525">
            <a:solidFill>
              <a:srgbClr val="3141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C6DA1-C96A-4584-84E2-A6D57E2A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914400"/>
            <a:ext cx="476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A086B-8C6D-4B4F-9EFE-30CBFA6E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0668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North Star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FF5E2-F097-46EB-A7AA-290429A9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09700"/>
            <a:ext cx="28575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DE5D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DE5DE"/>
                </a:solidFill>
                <a:latin typeface="Aptos"/>
                <a:ea typeface="Aptos"/>
                <a:cs typeface="Aptos"/>
              </a:rPr>
              <a:t>Um companheiro estratégico calmo.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DDE5D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DE5DE"/>
                </a:solidFill>
                <a:latin typeface="Aptos"/>
                <a:ea typeface="Aptos"/>
                <a:cs typeface="Aptos"/>
              </a:rPr>
              <a:t>A D2C não começa perguntando “o que viraliza?”. Ela observa sinais da vida e ajuda o criador a reconhecer a própria narrativa.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53F86-F34C-4CB3-BC10-36DADF99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41F9B-0E42-43AA-AC38-57B8CFE4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vida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35077B-0D73-432B-9517-5EB41DAF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448300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A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FD2F41-9A27-4965-9450-0E0611FD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3435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E7A7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E7A7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0606E-C272-438A-8C69-6E868D98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34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973C8-F975-4B54-A8A5-81C70306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8637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sinais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EE970C-5454-429A-9B51-15320CCE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48300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A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046E4C-D280-4651-A1E8-1AB199AF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3435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E7A7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E7A7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51E032-13B8-4383-9026-25465E76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334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56B842-623A-4BEB-8967-F3521C31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8637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mapa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6B7041-8FC6-4934-A08A-9EBCDE22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448300"/>
            <a:ext cx="466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A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0138A3-7FC5-4193-A998-83FAC086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3435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E7A7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E7A74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880DAD-567D-4D9B-97D1-873ED642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99BCD3-3D25-4704-A617-E08BA6D9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8637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próximos passos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5CA340-235C-4B6A-B6FF-8E96041C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FC8C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FC8C2"/>
                </a:solidFill>
                <a:latin typeface="Aptos"/>
                <a:ea typeface="Aptos"/>
                <a:cs typeface="Aptos"/>
              </a:rPr>
              <a:t>Fonte: docs de produto D2C, roadmap técnico e skill data2content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1D00FE-A2BB-4BA4-A06A-974F7F58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FC8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FC8C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75739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253BC5-C104-4E18-8845-42E638C5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A3C70D16-E83D-47E7-9074-041ADE1C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6DF62BB2-D458-48C7-BB34-6075F2A0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6CFE6-9D11-48E8-9668-283C15C8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6572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 D2C troca pressão por clareza narrativa.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4314A-11A4-4A6F-A928-86D798DD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23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O produto não quer fazer o criador postar mais. Ele quer ajudar o criador a saber se aquele conteúdo pertence ao mapa dele.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E931F-CBB8-4732-BDFE-5218F87F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47625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E9"/>
          </a:solidFill>
          <a:ln xmlns:a="http://schemas.openxmlformats.org/drawingml/2006/main" w="9525">
            <a:solidFill>
              <a:srgbClr val="E6BC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3D9CD-9569-4A94-A491-E1E9DD1A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47625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BD960-CEB1-48B0-ABEB-BB2CCA44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7525"/>
            <a:ext cx="441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Loop comum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30AC3-2BD0-42C4-B2F8-5985A05F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0425"/>
            <a:ext cx="4419600" cy="3779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tendência -&gt; ansiedade -&gt; postagem -&gt; números -&gt; mais ansiedade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D6831-B72C-405C-9FCB-E3E01327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829FE-10D7-4B2F-8FBD-CFA9AF56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tendência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B7E59-F8FB-4C22-A07E-EDB247F9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E13E8-8F0E-4BB5-A539-B61C8D83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4672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19A8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19A8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53F57C-ACC1-4BBE-B69E-A0901E5C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476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84680D-45DA-41AA-9EEA-F0FFBFDF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2440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postar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33B29-9050-4387-B9BA-66A9DB3D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720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F27E07-50D0-4FED-B9F7-44B8D7A5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4672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19A8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19A8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2C7BE5-261F-4260-B545-178927D4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519CF4-E35F-4051-917B-67F5D16C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2440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números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D1FF1E-1D01-4AB0-94D2-CFB8C0D0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720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79B924-2379-4AFD-BB4A-85D9D9AE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4672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19A8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19A8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7650DE-98A0-4519-8DF9-D01F1F00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476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EC1018-1B73-4918-BB42-A80E2C21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2440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cobrança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964F8F-437B-4508-81E3-5FFC6219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05125"/>
            <a:ext cx="47625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EF"/>
          </a:solidFill>
          <a:ln xmlns:a="http://schemas.openxmlformats.org/drawingml/2006/main" w="9525">
            <a:solidFill>
              <a:srgbClr val="BCD0C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81C231-DB25-4522-A95F-786EFC50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05125"/>
            <a:ext cx="47625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6C2304-ED04-4A1C-B357-A54D56E1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57525"/>
            <a:ext cx="441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Loop Data2Content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CA3443-9C4D-40BD-94C0-87FB2282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00425"/>
            <a:ext cx="4419600" cy="3779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vida -&gt; sinais -&gt; narrativa -&gt; decisão calma -&gt; criação coerente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0A4A57-E4CF-4297-8EDE-92F5BA9A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76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0075BB-3FC3-47AA-8D7B-540C5489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2440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vida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ED4D8E-B9D0-4EF1-AAAF-63B8DBE3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720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A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01ABDB-5A20-49CD-A0A9-101B1C37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4672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EAA9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EAA9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A7BC1E-5F98-467B-8F25-5339321D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476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256B74-2040-4762-B231-2ECF2D1C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72440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sinais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A9A719-CDFD-4F1A-8DE4-034FC439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5720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A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7C912E-C3E4-4D85-93AC-82948FD2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672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EAA9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EAA9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F0FBA1-6774-44BB-9394-76C63285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76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9D22FB-3154-412A-AFB2-0A91F866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2440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narrativa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DB7522-0729-4434-9FC4-D7AD93A0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720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A9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3BA99E-D7AD-45EB-AA12-EB8AF4AE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4672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EAA9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EAA93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A31BE3-C29A-412A-AF99-F1C046BD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476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A43401-7775-412A-ACE4-D0561653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724400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decisão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BC51C6-2641-4C39-AE48-846FAD4D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877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877B"/>
                </a:solidFill>
                <a:latin typeface="Aptos"/>
                <a:ea typeface="Aptos"/>
                <a:cs typeface="Aptos"/>
              </a:rPr>
              <a:t>Fonte: docs de produto D2C, roadmap técnico e skill data2content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FF4F62-9C5F-4978-ADAB-F40C5DE3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E87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87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438345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BAC391-BD08-42E1-95C2-6C3DCD81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4E749E45-8DC5-4482-9A46-44695419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AE636A6C-C2C9-4795-B673-8DE780DA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JORNADA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C2821-AF96-407E-A6E3-12DD6D4D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905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 jornada tem uma ordem: primeiro mapa, depois criação e oportunidades.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EF9BD-56EB-4FCA-B9A9-B7063A06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7429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A plataforma só fica comercial depois que entende o criador. Isso evita ideias genéricas e recomendações desconectadas.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5EC66-FE02-4954-9918-DC6DAD0A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324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5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C7519-03A9-4575-94EF-02F72B68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3F187-810E-4F8A-A4EE-B1FDD8FC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1D32E-B07A-457C-A164-5F0687AD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47975"/>
            <a:ext cx="1752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Autoconhecimento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446D0-447A-4FEF-81BE-A48BB895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intenção inicial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168156-6035-41B8-8B44-1CCD2395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14625"/>
            <a:ext cx="2324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5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64878-C658-4D69-8103-B3C52626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76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F86DE5-E1B1-4476-A7C5-878AF82B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0512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2A247-D52B-491B-99D1-0597758B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47975"/>
            <a:ext cx="1752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Narrativa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2B1002-3437-478A-9BAF-D6507D14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2420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ponto de vista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21C257-1E0E-4A9D-B5D3-B26E0F00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14625"/>
            <a:ext cx="2324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5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5B1C1D-A299-442A-9D67-A51ECEBA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E3ACA6-C6F1-4AAB-BFC9-CF8D63D1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0512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1070C8-E6E0-4E9C-A048-16A118B4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47975"/>
            <a:ext cx="1752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Territórios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4DFAA-6A01-4C6A-B6AD-4727E17D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2420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arenas legítimas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E0207E-BACC-4A07-A2F9-78858E97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14625"/>
            <a:ext cx="2324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5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A11CA8-E964-4A22-AFA0-9E96CD90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76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A2CAB2-3855-41D6-AE63-A5DFA0CC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0512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1ED5D6-F4C1-4062-9AAE-95E34022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47975"/>
            <a:ext cx="1752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Adjacentes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E11D5C-9E1D-4361-9104-8F760032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2420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novas direções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189646-C0AF-4481-972A-09AB9710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2324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5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30AE73-28E3-44DB-9540-DFC293EA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8E3634-A32C-4827-9C82-DDE858E7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C6F331-4F88-40A6-9DD0-7C8A9B95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81425"/>
            <a:ext cx="1752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Assets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7A1AC0-CCC1-43AA-A105-879DE5D6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vida real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00D07C-E5D6-42B7-89C0-E550D2AF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48075"/>
            <a:ext cx="2324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5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36D8F0-E46F-40F1-A18B-1178E009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10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22950D-3F92-40F3-B9D2-231DFBD9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3857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0742DF-978E-4A47-9A9B-1EBC019E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781425"/>
            <a:ext cx="1752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4BED73-864A-45F4-911E-2BEAAC1D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5765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modo de falar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CC2F71-AA26-4170-AC94-6F893452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48075"/>
            <a:ext cx="2324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5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4284AC-9E37-4158-A494-7C936894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9B916D-2022-468B-A68B-2B1E8A51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3857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814361-B07A-4446-9EF6-3A143455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81425"/>
            <a:ext cx="1752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Formatos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CF524E-6C5F-43A6-92E5-3AB3A72F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5765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fit prático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83212B-3A33-4D34-89B3-D2352F90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48075"/>
            <a:ext cx="2324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66940B-DD4D-4999-9BCB-021C8F79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10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AAA170-056E-482A-A978-D3816884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3857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62F386-7792-47E8-8EC6-B78D28E4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81425"/>
            <a:ext cx="1752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Coerência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18F964-EAA5-4CCB-964A-216722BF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5765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decisão antes de postar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3B77DA-9A66-4DF4-8868-2D388729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2324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D346BA-C236-4222-A8D0-1423D333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338720-BE64-466C-9737-FE1929C9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7202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0D67A5-56C9-400D-95AF-F47E41D3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1752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Criação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06EFBD-9C4D-43E8-8455-B418864C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9110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pautas do mapa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55B6C01-DE83-47D7-A921-B155A51D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581525"/>
            <a:ext cx="2324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69F764B-9613-4438-8517-5C7BEC08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43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3BB5BD-5944-42AE-B04B-730F2E74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7202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8476150-BAF5-450F-8DFF-FD3BE3EC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714875"/>
            <a:ext cx="1752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Collabs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090D46-68C0-4FAB-AF73-B2C05B49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99110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fit narrativo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8F3D1AB-5BE8-479C-96BC-11BAC78D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81525"/>
            <a:ext cx="2324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30F215-3FB0-440E-8816-164B69F6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43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239F9C-D40E-428B-8C2E-4631754F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7202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6F598C-EDB7-4E1E-93C4-F8A9AEC5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14875"/>
            <a:ext cx="1752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Monetização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4BC30D8-6EC4-479C-9F4D-FABFD435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9110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territórios de marca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BA7990D-03C7-4186-8389-3CB9B15A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81525"/>
            <a:ext cx="2324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401B7EA-DC31-4271-B012-FF004447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743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7224C32-94A2-4508-97E2-F181C4F6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77202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64EACA1-7072-4A9B-8B8F-7FE292EE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14875"/>
            <a:ext cx="1752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OS diário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2992CC8-1429-4B5C-92DF-BCC83959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991100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uso recorrente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35A0599-0FBF-42E5-A026-6E30EE76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72150"/>
            <a:ext cx="923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Leitura rápida: etapas 1-7 constroem o mapa; etapas 8-12 usam o mapa para decidir, criar, distribuir e monetizar.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50BF048-DDD0-401D-B6E6-3B89893E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877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877B"/>
                </a:solidFill>
                <a:latin typeface="Aptos"/>
                <a:ea typeface="Aptos"/>
                <a:cs typeface="Aptos"/>
              </a:rPr>
              <a:t>Fonte: docs de produto D2C, roadmap técnico e skill data2content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9D9AFEF-95C1-4787-9505-088C0017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E87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87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810083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41782E-4C43-4F1C-82AC-9FC4BA7B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E714853B-AE5A-4347-ABBC-B83574E0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2429FB60-7650-4CA5-9C56-FC059E28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ETAPA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38511-E3C1-448F-833D-0346B222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620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O onboarding planta a intenção antes da IA interpretar conteúdo.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E9721-E30A-48AB-96AC-B92FB595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A primeira experiência deve parecer uma reflexão guiada, não um formulário. Uma tela, uma pergunta, uma decisão.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FE22C9-4A50-471A-B1E7-C741F243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2343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45AD9-A2C8-40E5-923E-042DADA2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19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35863-9E3E-434F-A6F3-A79238F6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60E64-878C-476A-ACBA-16E49FA1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1771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Boas-vindas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F369E8-BA47-4CA1-8295-172D18C2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67075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Vamos construir o mapa.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74C0C-8D9F-46F8-8061-E17D81D6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861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0C23C4-1B2D-47B5-A434-5A88A3A9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813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D1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D1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8F6026-5ACD-4357-98B2-C7AFEC60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57500"/>
            <a:ext cx="2343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351741-C3AF-411C-B49D-829A6882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19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2DED6E-64BE-47D2-990C-490B27C5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30496F-57D7-4176-8FD9-A1C3913A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90850"/>
            <a:ext cx="1771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Instagram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537D7C-91D7-4365-B7FE-932F59A3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67075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Conectar agora ou depois.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852DC9-BE9B-411A-9198-E3314B79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861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062A88-1F92-4A83-93B4-A20D17B0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1813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D1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D1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279C1F-CC54-4772-8790-A774A7A7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57500"/>
            <a:ext cx="2343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6EDD02-D17B-4BBB-BE42-70525372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19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A1C6F3-F3ED-4F42-A4FC-F893B337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159B23-C10A-4C5B-BB08-D2AD3195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90850"/>
            <a:ext cx="1771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Por que cria?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16BBF5-2D89-4100-9849-C9F40136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67075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Intenção principal.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0F89CC-4CEB-4129-AA69-D94D466C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861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B296B5-BF32-44CE-BDDD-368F2E8B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1813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D1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D1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1CBCF3-7BDF-4A8B-AD26-157CF9A9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57500"/>
            <a:ext cx="2343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EDBE46-07B2-42BA-A570-BE068777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19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08CDFA-16D8-48D9-AC1B-E1FCD361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480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1D54C9-F37C-4127-BF50-B872CE83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90850"/>
            <a:ext cx="1771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O que quer gerar?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438464-3A89-4F93-BCAE-0AC87B93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67075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Sentimento desejado.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A1BF5A-3B55-4E4F-9374-86906022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790950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continua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B2650C-210D-4CAB-A8AD-8FB538D0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2343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7F6A25-B8F3-41D2-ACA6-35DF8E28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5B8F40-D148-4BAF-921A-EBF6E757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B14289-6C6A-4C4F-8F02-A914A290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71975"/>
            <a:ext cx="1771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Limite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BB325C-5BA1-4D98-8DB6-C025BDB8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O que não deve aparecer.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347B8A-4A5C-4098-A552-6BC7FFBD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6672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5B0EBB-A3FB-4DE6-A414-B4877162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62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D1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D1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A4ED9C-58A7-4C9E-9D7B-3A01A068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2343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CF0335-8314-4766-9DE1-243D559D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00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95CF33-02AE-4913-BBBC-564C7A70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2912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D8D03C-53EC-4BC6-98B2-E3E154CC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71975"/>
            <a:ext cx="1771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Calibração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3CBE8A-A793-4032-B3AF-33ADEEFF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IA organiza os sinais.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F0D8C6-EC90-415C-9A32-4831EBC0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672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7F4E6A-7EB1-43F4-9365-D9538324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562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D1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D1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CE312B-8BCA-4E93-925B-7F888688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38625"/>
            <a:ext cx="2343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572EF7-9CE1-420B-B05F-C16F60E7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00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2CB493-0645-49E5-86B7-865F89C8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2912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A35915-4E8A-49FF-8F81-EA315E9D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71975"/>
            <a:ext cx="1771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Primeiro sinal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9A893EB-96F5-4119-B1EC-00A055C3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Criador reage: sim, quase, não.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454EFCA-D593-4364-9458-B5E57BE5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85725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F2145E-6DB4-454A-B9F9-FEBF7ADC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8572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9F94CD-E485-444C-A306-1F325B5C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009650"/>
            <a:ext cx="2514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Regra simples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33FF0A-211F-4AE3-9B51-048E501A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352550"/>
            <a:ext cx="2514600" cy="277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A assinatura não pula etapas. Ela desbloqueia profundidade quando o mapa já tem contexto.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28664BA-0562-46CB-96C1-DB91B757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877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877B"/>
                </a:solidFill>
                <a:latin typeface="Aptos"/>
                <a:ea typeface="Aptos"/>
                <a:cs typeface="Aptos"/>
              </a:rPr>
              <a:t>Fonte: docs de produto D2C, roadmap técnico e skill data2content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DBB2932-17A5-423C-ABE7-97974A9F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E87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87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4435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26E607-11EC-4016-9412-354EAEBE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61817155-5CC4-40CC-924B-F2AEFE79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C5659F79-5407-426C-8412-115717C0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COMO APRENDE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52E11-B5A4-4996-9DC0-A48E489B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685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O mapa cresce por dois fluxos independentes.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6DA0A-5EA2-4D76-9EC8-1D355BC2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6667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Um fluxo exige ação direta do criador. O outro trabalha em silêncio enquanto ele posta normalmente.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1D817-1CE1-42BE-BC8B-2BB49D87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4095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E9"/>
          </a:solidFill>
          <a:ln xmlns:a="http://schemas.openxmlformats.org/drawingml/2006/main" w="9525">
            <a:solidFill>
              <a:srgbClr val="E6BC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0D7F8-5373-4905-9D21-FA8B84A0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0EDE6-AF13-4B9D-AFF7-EA404F48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37528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Stream A: upload D2C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03745-D633-4A95-B84A-98CC4FDB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3752850" cy="755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O criador traz um vídeo antes de postar.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A IA faz leitura profunda: narrativa, tom, cenário, assets e sinais de vida.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BB4A7-0994-4493-A078-B175B116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B2499-C900-4254-8A2B-8F803381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14950"/>
            <a:ext cx="3752850" cy="3025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Uso: verificar coerência antes da publicação.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290EF-09C7-408F-8C64-5AC33DC5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33700"/>
            <a:ext cx="4095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EF"/>
          </a:solidFill>
          <a:ln xmlns:a="http://schemas.openxmlformats.org/drawingml/2006/main" w="9525">
            <a:solidFill>
              <a:srgbClr val="BCD0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D413B-7DC2-49AB-9E31-5D2A8C01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3370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A59CA-197B-4DB2-91C9-9E5DF4CE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37528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Stream B: Instagram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7931C8-3F29-4FBB-8A35-25366E13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3752850" cy="7551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O criador posta normalmente.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A D2C lê captions, hashtags, formatos e padrões para enriquecer o mapa sem pedir esforço.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689A2-877C-45D6-B92E-E5405A2E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435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FF5659-FF96-4855-BB23-D061DAC8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14950"/>
            <a:ext cx="3752850" cy="3025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Uso: perceber novos sinais quando o criador volta.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88B0DA-B65A-4862-82A1-23184E26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33825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10F2B6-7489-478C-A117-7083C78C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8290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D1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D1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93673A-193D-44F4-A783-C7ADC07F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33825"/>
            <a:ext cx="561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32F0E6-DF95-4DFC-981C-92BE3798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290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D1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D1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C961D-5D19-4A6B-9507-07340058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861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A8FFBE-5BA5-4B79-9478-7A24449B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81425"/>
            <a:ext cx="68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MAPA</a:t>
            </a:r>
          </a:p>
          <a:p xmlns:a="http://schemas.openxmlformats.org/drawingml/2006/main">
            <a:pPr algn="ctr">
              <a:defRPr sz="10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VIVO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8513DD-3EAA-429C-94AC-C4B6AEFD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243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CA7FD1-520A-42F8-9979-C4FF6E53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877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877B"/>
                </a:solidFill>
                <a:latin typeface="Aptos"/>
                <a:ea typeface="Aptos"/>
                <a:cs typeface="Aptos"/>
              </a:rPr>
              <a:t>Fonte: docs de produto D2C, roadmap técnico e skill data2content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324072-0CF6-469E-B5AD-71C42D0B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E87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87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17980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115BBB-4E9B-4F51-B0E2-C6D2C8D2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0D6F420C-9EB0-4907-8760-3A49D53E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C20FBF3F-3B4E-48DD-A88C-B18E5D94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EXTRAÇÃO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59E7B-BB90-4B86-BA1F-C8CAAFE7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 narrativa não é preenchida: ela emerge de padrões repetidos.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F98D9-3F64-4EAF-8E58-349A0402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7524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A IA observa, acumula sinais e propõe. O criador reconhece, ajusta ou rejeita. É essa confirmação que transforma observação em mapa.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02D16-A29B-47F3-B5BB-E3E8156A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000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787D7-9F3B-4F62-9F81-13906A68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47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C57E2-58A8-4DC9-8D43-48A5B1A1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1657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Sinais brutos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6F68E-8D97-4159-B61A-19BFA10B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1657350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vídeos</a:t>
            </a:r>
          </a:p>
          <a:p xmlns:a="http://schemas.openxmlformats.org/drawingml/2006/main">
            <a:pPr algn="l">
              <a:defRPr sz="112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captions</a:t>
            </a:r>
          </a:p>
          <a:p xmlns:a="http://schemas.openxmlformats.org/drawingml/2006/main">
            <a:pPr algn="l">
              <a:defRPr sz="112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cenários</a:t>
            </a:r>
          </a:p>
          <a:p xmlns:a="http://schemas.openxmlformats.org/drawingml/2006/main">
            <a:pPr algn="l">
              <a:defRPr sz="112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respostas</a:t>
            </a:r>
          </a:p>
          <a:p xmlns:a="http://schemas.openxmlformats.org/drawingml/2006/main">
            <a:pPr algn="l">
              <a:defRPr sz="112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assets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F026A-C031-44FD-B232-0E061355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0525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A9F0E-C7CB-4367-B86F-4DE3DCE6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800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D1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D1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E07F4-5E17-4222-A4FB-3E164077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48000"/>
            <a:ext cx="2095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047535-0AA5-4A3B-9BD0-ADF2C472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048000"/>
            <a:ext cx="47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2C9FB-C084-46F9-969E-7B76C417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200400"/>
            <a:ext cx="1752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Acúmulo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A4895-D7F6-4B72-9506-5AA873A3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543300"/>
            <a:ext cx="17526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evidenceCount</a:t>
            </a:r>
          </a:p>
          <a:p xmlns:a="http://schemas.openxmlformats.org/drawingml/2006/main">
            <a:pPr algn="l">
              <a:defRPr sz="112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recorrência</a:t>
            </a:r>
          </a:p>
          <a:p xmlns:a="http://schemas.openxmlformats.org/drawingml/2006/main">
            <a:pPr algn="l">
              <a:defRPr sz="112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convergência</a:t>
            </a:r>
          </a:p>
          <a:p xmlns:a="http://schemas.openxmlformats.org/drawingml/2006/main">
            <a:pPr algn="l">
              <a:defRPr sz="112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mudança real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DE43E-3188-4295-A3C8-C574E1FD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9052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84E013-A414-4E46-91FE-FE4D4C06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00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D1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D1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40AFEA-100C-47C2-BB17-6F92E390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2190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A4D40D-0440-4544-90A4-7BC4701B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47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9747BE-22A4-40F1-A16A-28FEECA4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00400"/>
            <a:ext cx="1847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Proposta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048D91-390C-46DC-A0E9-A6AB5A44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43300"/>
            <a:ext cx="1847850" cy="289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“Detectamos um fio recorrente: família como destino...”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DDF34C-035F-4E35-81F1-2BC0B64B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052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928E50-D4C5-4FFC-9F58-A8AC6127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800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D1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D1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2798C-0E4B-4D99-9105-41324D11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048000"/>
            <a:ext cx="1857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CE8"/>
          </a:solidFill>
          <a:ln xmlns:a="http://schemas.openxmlformats.org/drawingml/2006/main" w="9525">
            <a:solidFill>
              <a:srgbClr val="9CCD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B16771-C87A-4B30-A909-B0136B74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048000"/>
            <a:ext cx="47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3B3481-E1D7-4217-A5C9-9AF4CF91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200400"/>
            <a:ext cx="15144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8C8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F8C82"/>
                </a:solidFill>
                <a:latin typeface="Aptos"/>
                <a:ea typeface="Aptos"/>
                <a:cs typeface="Aptos"/>
              </a:rPr>
              <a:t>Confirmação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0A5DFD-7C91-4927-91C9-78CF20FE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543300"/>
            <a:ext cx="1514475" cy="6419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Sim</a:t>
            </a:r>
          </a:p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Quase isso</a:t>
            </a:r>
          </a:p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Não é assim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87464F-E479-48CC-8161-73CEBD71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578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FF30B9-9CAD-4D07-8128-ED7DC346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334000"/>
            <a:ext cx="453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Regra de produto: o criador reconhece, não descreve.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D33C1E-C070-4436-B19F-056EDF37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877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877B"/>
                </a:solidFill>
                <a:latin typeface="Aptos"/>
                <a:ea typeface="Aptos"/>
                <a:cs typeface="Aptos"/>
              </a:rPr>
              <a:t>Fonte: docs de produto D2C, roadmap técnico e skill data2content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40C63C-CE27-4C05-818E-D65292E7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E87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877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297886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D13140-53A6-4F9C-B750-40CD1EA9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A02D5735-56E0-4EAA-9988-28A08509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7F9D885F-8C9A-41FE-BEBC-73D4E4AB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MAPA MADURO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D5671-CC8E-4075-B4CA-E219A102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6572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O mapa não reduz o criador a um nicho.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1B012-5B05-4F86-9BC6-4096DF4F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714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Ele organiza camadas: ponto de vista, lugares legítimos para falar, elementos reais da vida, tom e formatos com melhor fit.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BEA03-D717-4A1B-A3F1-02363615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90850"/>
            <a:ext cx="39624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4671C-E3B1-48DF-9AB1-421B6ACD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Narrativa central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E3E1C-4549-4D98-AECC-89C1CDA7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528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o ponto de vista recorrente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0956D-5700-4DE1-B24F-0A0771E3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71950"/>
            <a:ext cx="167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46032-AA09-41E6-A02A-5C022036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005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6ECE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ECE8"/>
                </a:solidFill>
                <a:latin typeface="Aptos"/>
                <a:ea typeface="Aptos"/>
                <a:cs typeface="Aptos"/>
              </a:rPr>
              <a:t>confirmada pelo criador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807AB-D1F2-4332-A4C7-50A13292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266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CC314D-ECB1-4528-9D57-E3B2874C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32A63A-EFCA-4B7D-9000-E071F278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385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Territórios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F81C4-16A7-4955-95E8-605FFC8C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81400"/>
            <a:ext cx="2324100" cy="2647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onde a narrativa tem legitimidade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04291A-98F2-4F2A-8031-5FA32FF1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05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E1321F-19C1-4EC5-8406-0B1F705C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266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0BDDD-2A72-4764-8507-62B27041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A879C9-F888-4A2A-A453-5B9806C0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6725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Assets de vida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F58C80-03C1-4BB8-8514-30C28236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10150"/>
            <a:ext cx="2324100" cy="2647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elementos reais que aparecem no conteúdo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2387FC-C39B-4B41-8369-F785B03F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933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8AA7DA-AC11-4259-8053-C505CF1A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86100"/>
            <a:ext cx="266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C1DB78-555D-431C-8EC2-13C13462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861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71A138-3FDB-4897-ADEA-750A8B09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385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C8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8C82"/>
                </a:solidFill>
                <a:latin typeface="Aptos"/>
                <a:ea typeface="Aptos"/>
                <a:cs typeface="Aptos"/>
              </a:rPr>
              <a:t>Tom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DF970-2CBC-409E-B201-55BD1C16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81400"/>
            <a:ext cx="2324100" cy="2647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como o criador quer ser percebido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92DB7A-E3A8-40BD-9B0D-6AFD7F4C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05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B0CE7E-FAF5-40CE-A934-B6109B9D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14850"/>
            <a:ext cx="266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C6563E-86BA-411F-A6D7-233252AF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1485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B8E519-686D-4463-AEF7-730F83A3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6725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6A84F"/>
                </a:solidFill>
                <a:latin typeface="Aptos"/>
                <a:ea typeface="Aptos"/>
                <a:cs typeface="Aptos"/>
              </a:rPr>
              <a:t>Formatos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B46FD2-8666-409D-BA43-D3900387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10150"/>
            <a:ext cx="2324100" cy="2647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formas que expressam melhor a narrativa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EEB271-4AD0-4BC9-8104-C3D2CE45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33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A05B75-6C78-4CD2-BD3C-76C1DBC2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877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877B"/>
                </a:solidFill>
                <a:latin typeface="Aptos"/>
                <a:ea typeface="Aptos"/>
                <a:cs typeface="Aptos"/>
              </a:rPr>
              <a:t>Fonte: docs de produto D2C, roadmap técnico e skill data2content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AE8D04-4B25-45D6-87E7-9E732A96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E87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87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846283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6927F2-61E5-4D0A-8727-7BA35A20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79CBF43C-8B9C-4033-935E-EFDAC1BA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16569783-1983-44C6-ADDA-C4C74881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COERÊNCIA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C4270-2EE3-4FFC-B2B1-A9DF5BBB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048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Antes de postar, o criador pode perguntar: isso pertence ao meu mapa?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DB0E1-BB3D-41F2-99AE-7BB625EC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A resposta não bloqueia. Ela traduz o vídeo em uma decisão calma.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9B99F-43B1-40D1-B73C-2D99B7A7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2286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E9"/>
          </a:solidFill>
          <a:ln xmlns:a="http://schemas.openxmlformats.org/drawingml/2006/main" w="9525">
            <a:solidFill>
              <a:srgbClr val="E6BC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FB185-580F-4688-8EBD-BA55C22D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CF6A8-E8B9-46C2-9E02-90164738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Pré-postagem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B103B-5290-43D6-AA08-4A25408B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1943100" cy="2647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vídeo antes de publicar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EE3A1-7A7A-407C-84F1-1F00677C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24275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57E6D-02F2-41BC-A365-40AF687C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6195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D1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D1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F5200-304D-434C-8D64-86A52469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90850"/>
            <a:ext cx="2476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9069DA-FC07-44FD-BDE2-2E70B09B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9085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747045-A47E-4EE3-843F-0D9F3085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43250"/>
            <a:ext cx="2133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Compara com o mapa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1E0840-6A41-413A-BF06-089ECB90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86150"/>
            <a:ext cx="21336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narrativa</a:t>
            </a:r>
          </a:p>
          <a:p xmlns:a="http://schemas.openxmlformats.org/drawingml/2006/main">
            <a:pPr algn="l">
              <a:defRPr sz="1125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territórios</a:t>
            </a:r>
          </a:p>
          <a:p xmlns:a="http://schemas.openxmlformats.org/drawingml/2006/main">
            <a:pPr algn="l">
              <a:defRPr sz="1125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assets</a:t>
            </a:r>
          </a:p>
          <a:p xmlns:a="http://schemas.openxmlformats.org/drawingml/2006/main">
            <a:pPr algn="l">
              <a:defRPr sz="1125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389072-E962-47F3-A1EC-07A2142A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24275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A1F301-2BD0-4C47-B65A-FA59F24C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6195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D1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D1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97B3B2-A96B-435D-A000-EF42188F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1E7476-B634-4327-B57C-8F3FD9B3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8F2530-969E-49FF-87B9-861B5A56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38450"/>
            <a:ext cx="2895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C8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8C82"/>
                </a:solidFill>
                <a:latin typeface="Aptos"/>
                <a:ea typeface="Aptos"/>
                <a:cs typeface="Aptos"/>
              </a:rPr>
              <a:t>Reforça o padrão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350C21-2DDF-4763-88A2-7E416778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6705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confirma a narrativa principal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A0413E-F7C8-4CEF-AE6C-6563D7A5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671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66F433-ECC9-4D9A-A1BC-25811CC8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671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DE3FAA-A913-43E6-BF56-87C44A95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19500"/>
            <a:ext cx="2895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A84F"/>
                </a:solidFill>
                <a:latin typeface="Aptos"/>
                <a:ea typeface="Aptos"/>
                <a:cs typeface="Aptos"/>
              </a:rPr>
              <a:t>Experimento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841866-A231-4096-B9A6-5C19FB41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481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abre uma direção adjacente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5B6E72-3E64-4BF6-AE57-9D2FE696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4815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8F3CC1-3AD8-48B2-AEE5-2D50CCE4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481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037BE9-B6C0-497D-A0A2-BD463ADF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00550"/>
            <a:ext cx="2895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Desvio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120B55-81E9-4822-87FE-D82669E3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2915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difere do mapa, talvez de propósito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3A015B-63AC-47A0-B838-425F99E8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029200"/>
            <a:ext cx="323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8FDA35-DF61-42A8-AE75-D27D8E0C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0292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B0248E-21DE-4E79-A4A1-FE3FC230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81600"/>
            <a:ext cx="2895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Primeira leitura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ADBE1F-BA2D-4C6D-81EB-22F5CB2B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1020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ainda ajuda a construir o mapa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B661F0-5C39-4BFD-A4D0-073E0C30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943600"/>
            <a:ext cx="504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D7C453-5981-42F5-B8E8-DAA51D2A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6019800"/>
            <a:ext cx="481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Exemplo de copy: “Foi uma exploração intencional?”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0F2A08-DF40-484F-B913-13688C14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877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877B"/>
                </a:solidFill>
                <a:latin typeface="Aptos"/>
                <a:ea typeface="Aptos"/>
                <a:cs typeface="Aptos"/>
              </a:rPr>
              <a:t>Fonte: docs de produto D2C, roadmap técnico e skill data2content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C24C7D-3E97-405D-9C85-D70A7D30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E87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87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5863540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FC1B2C-FC02-4177-BC52-2FEE98C6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8A256EE5-A03C-4B4D-8390-12D723C1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EB12AD25-86FE-4B49-92C8-879F61D0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CRIAÇÃO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C0A65-861F-44B1-8180-75C8B30E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685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As pautas nascem do mapa específico do criador.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5772E0-5B8B-42E7-B05B-C18262DE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A D2C não pergunta o que está em alta. Ela combina narrativa confirmada, território, asset, tom e formato.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E7F45-600E-45D1-9136-A38F1ADD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92922-8E35-48BF-BB06-1C58FBE8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C56EA-3640-4F97-B91C-9578BAA0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C8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8C82"/>
                </a:solidFill>
                <a:latin typeface="Aptos"/>
                <a:ea typeface="Aptos"/>
                <a:cs typeface="Aptos"/>
              </a:rPr>
              <a:t>Narrativa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B1E0A-C72E-4C0C-9BB1-A711E0B7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família como presença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6E0A6-215B-4B95-AA48-091BB09C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4E8FB-DC87-4F31-A302-911F6076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D05DD-B3E1-4495-A379-7BC0D85B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Território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5AC11-0E30-40A1-BEB1-88803817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rotina doméstica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865EA-E895-41AB-88BF-ABAC88EF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8EFB04-1D47-491A-9CE3-519FB14E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B936EC-21E7-49AA-888A-166F5A37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Asset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865197-C73B-4CD7-B11E-FEBDEC75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manhã com filhos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BFDE81-568A-43E4-B4D6-C4084F7F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45C94-FE90-4093-9AE0-D8807E8C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78C66E-F27C-4549-A57A-4B09615C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9F658A-F5FC-4A94-8716-E6091C60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íntimo-reflexivo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51DB3D-FA48-4CD1-BB9E-8C5BEDF2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FA33C2-8839-48DD-B2D3-51E1E834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427D48-5740-4B31-9B37-84E865FB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A84F"/>
                </a:solidFill>
                <a:latin typeface="Aptos"/>
                <a:ea typeface="Aptos"/>
                <a:cs typeface="Aptos"/>
              </a:rPr>
              <a:t>Formato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14210E-1C60-4A4E-8202-84DBABE7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2800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Reel narrado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AA33BE-0FF0-4DEE-A15B-953F339F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71950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940393-34B7-4DE9-899A-EA0CD1BA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0671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D1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D1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446D84-B168-4DCA-A301-A5DAA8DD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19400"/>
            <a:ext cx="53149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BB4CD7-E5B4-4EC2-AC88-722529DE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19400"/>
            <a:ext cx="4762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2508B0-A5C1-4BE8-83E1-4BF1BF4A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71800"/>
            <a:ext cx="4972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Pauta gerada do mapa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F7D611-7BD1-44F7-8B38-15691676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14700"/>
            <a:ext cx="4972050" cy="1207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Título: O que uma manhã comum ensina sobre presença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Gancho: “Tem dias em que família não parece destino. Parece logística. Mas é aí que o mapa aparece.”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Por que faz sentido: usa um asset real, mantém o tom íntimo e reforça a narrativa central sem virar fórmula.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1E391C-285C-4536-A1A6-396D26A0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096000"/>
            <a:ext cx="766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6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7C9E44-EA04-43CA-AFD5-F4A2C5D5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172200"/>
            <a:ext cx="7439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Nunca: algoritmo, tendência, viralização ou métrica de outros criadores.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12C502-3129-4094-9D96-D1C1C6D6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877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877B"/>
                </a:solidFill>
                <a:latin typeface="Aptos"/>
                <a:ea typeface="Aptos"/>
                <a:cs typeface="Aptos"/>
              </a:rPr>
              <a:t>Fonte: docs de produto D2C, roadmap técnico e skill data2content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6B70F8-1B14-4091-A400-B85819B6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E87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877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167041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FE27F0-65F3-458D-9F49-E91CB3EC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524B6A2F-6AAC-46BC-92CC-C0F963BF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4B753BE7-5077-4470-9C28-A93A56EA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OPORTUNIDADES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AE721-7201-4A36-B108-7CC0C2CA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096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Collabs e monetização entram quando o mapa já tem clareza.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DF3CD-9FEA-4957-AC42-04D7FAFE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A lógica não é nicho genérico, audiência parecida ou CPM. É fit narrativo: o que combina sem quebrar a identidade.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E7901-B091-49F4-8845-9AC701A6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7B210-8AA1-4B93-AD64-716C74A4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CD934-F8A5-4D87-B835-6D3174BA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25146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Mapa confirmado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D3266-D9B1-4170-832B-2F62A62D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514600" cy="830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narrativa</a:t>
            </a:r>
          </a:p>
          <a:p xmlns:a="http://schemas.openxmlformats.org/drawingml/2006/main">
            <a:pPr algn="l">
              <a:defRPr sz="1125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territórios</a:t>
            </a:r>
          </a:p>
          <a:p xmlns:a="http://schemas.openxmlformats.org/drawingml/2006/main">
            <a:pPr algn="l">
              <a:defRPr sz="1125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assets</a:t>
            </a:r>
          </a:p>
          <a:p xmlns:a="http://schemas.openxmlformats.org/drawingml/2006/main">
            <a:pPr algn="l">
              <a:defRPr sz="1125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tom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8F2F0-E525-4B62-8445-B5649D5B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67175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C4B06-3A1D-4B64-94CD-6DD590FB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9624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D1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D1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C5390-C881-4984-8C42-5D24236D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7814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67033-2703-4A6B-BA7C-66DF0CAE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95725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FIT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NARRATIVO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0BAF4-47D8-4923-9943-C94BE2F9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67175"/>
            <a:ext cx="80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F2999-81B6-41CC-81B1-3FD6F7C0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9624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D1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D1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1C0734-DE14-477F-BB0B-C944982E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81300"/>
            <a:ext cx="4000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EF"/>
          </a:solidFill>
          <a:ln xmlns:a="http://schemas.openxmlformats.org/drawingml/2006/main" w="9525">
            <a:solidFill>
              <a:srgbClr val="BCD0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08126-F449-491D-90BD-3808233F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8130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79C70D-C145-4B7B-9796-96A27A75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33700"/>
            <a:ext cx="365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Distribuição / collabs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D08000-6247-4C14-AEE8-4CEDB0C9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76600"/>
            <a:ext cx="3657600" cy="289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criadores com narrativas compatíveis ou complementares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C5A8AF-E778-462D-B039-D5EBA30F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86250"/>
            <a:ext cx="4000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4BD"/>
          </a:solidFill>
          <a:ln xmlns:a="http://schemas.openxmlformats.org/drawingml/2006/main" w="9525">
            <a:solidFill>
              <a:srgbClr val="E2CA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6877DD-293B-44A3-AA36-96E7DD2B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86250"/>
            <a:ext cx="47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3FF881-5515-4279-BC95-68B26980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38650"/>
            <a:ext cx="3657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A6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A6827"/>
                </a:solidFill>
                <a:latin typeface="Aptos"/>
                <a:ea typeface="Aptos"/>
                <a:cs typeface="Aptos"/>
              </a:rPr>
              <a:t>Monetização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6347AC-DBD6-4A7D-92B9-080CA8D1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81550"/>
            <a:ext cx="3657600" cy="289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territórios de marca: experiências familiares, rotina doméstica, viagens acessíveis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F3F4A6-3E2D-42D5-BC68-7F3BA14C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877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877B"/>
                </a:solidFill>
                <a:latin typeface="Aptos"/>
                <a:ea typeface="Aptos"/>
                <a:cs typeface="Aptos"/>
              </a:rPr>
              <a:t>Fonte: docs de produto D2C, roadmap técnico e skill data2content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983838-60A8-43E3-9CC9-2C967BCB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E87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87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232934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1A5E1E-F57D-4D4C-98F4-618080C1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DABD9C48-BC7B-4FF1-B866-7D83DAD1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80E36809-15EB-47B2-BBFA-DFCB48BB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OS DIÁRIO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EA8DF-C69C-48DE-830A-A369D44B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O motivo para voltar é ver o que o mapa aprendeu.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72323-FB87-44FF-BBDE-E10DF404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A recorrência não vem de cobrança. Cada vídeo, post e resposta deixa o mapa mais útil.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51974-997B-498C-9AFB-48DA7E48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290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8A0A3-1BA3-419E-9511-330422B7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057650"/>
            <a:ext cx="704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MAPA</a:t>
            </a:r>
          </a:p>
          <a:p xmlns:a="http://schemas.openxmlformats.org/drawingml/2006/main">
            <a:pPr algn="ctr">
              <a:defRPr sz="10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MAIS ÚTIL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E3065-7059-4915-8CB8-4960ED3F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95600"/>
            <a:ext cx="1952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4BE559-22A2-4467-B544-8C6EEE79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956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C8472-42F0-4325-A911-FC777FBC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48000"/>
            <a:ext cx="1609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745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8745F"/>
                </a:solidFill>
                <a:latin typeface="Aptos"/>
                <a:ea typeface="Aptos"/>
                <a:cs typeface="Aptos"/>
              </a:rPr>
              <a:t>posts analisados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30207-09F7-42E6-94FF-C5FA209A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33750"/>
            <a:ext cx="1609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desde a última visita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A5D05-D776-42A9-BE5E-91489794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62200"/>
            <a:ext cx="1952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26B05-12E8-4EDB-9F68-B8D29164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622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D578C-0B97-40FF-B471-4AD75DDF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14600"/>
            <a:ext cx="1609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65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654A"/>
                </a:solidFill>
                <a:latin typeface="Aptos"/>
                <a:ea typeface="Aptos"/>
                <a:cs typeface="Aptos"/>
              </a:rPr>
              <a:t>sinais novos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D372F-883C-486B-ADE1-0155504B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00350"/>
            <a:ext cx="1609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desde a última visita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905AE-815A-400D-9F17-229E3C0E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95600"/>
            <a:ext cx="1952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284EA0-EF30-4E33-B138-E0F88F34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9560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5BF49A-3615-4A01-885F-1145B936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48000"/>
            <a:ext cx="1609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A8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A84F"/>
                </a:solidFill>
                <a:latin typeface="Aptos"/>
                <a:ea typeface="Aptos"/>
                <a:cs typeface="Aptos"/>
              </a:rPr>
              <a:t>pautas novas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E12D7F-CFB6-4FFA-A8BC-A5651BBA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33750"/>
            <a:ext cx="1609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desde a última visita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617120-EC15-426C-B719-7BEAFEB4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95850"/>
            <a:ext cx="1952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C1BB62-C97C-4266-9497-4AD3FA9F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958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4E82AA-A362-4555-A7E2-19C8A804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48250"/>
            <a:ext cx="1609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C8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8C82"/>
                </a:solidFill>
                <a:latin typeface="Aptos"/>
                <a:ea typeface="Aptos"/>
                <a:cs typeface="Aptos"/>
              </a:rPr>
              <a:t>vídeos avaliados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9B7A81-0401-4171-A5FA-06E1C749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334000"/>
            <a:ext cx="1609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desde a última visita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734751-8A7D-4EFC-9F7A-E1411723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95850"/>
            <a:ext cx="1952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030E51-70E7-4E1B-BF23-F1047483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958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A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E8A27D-6B5A-42D7-9353-BA4CAFA1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1609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2A3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C2A31"/>
                </a:solidFill>
                <a:latin typeface="Aptos"/>
                <a:ea typeface="Aptos"/>
                <a:cs typeface="Aptos"/>
              </a:rPr>
              <a:t>oportunidades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D1E042-ED6A-4A60-A6D4-3F1EB89E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34000"/>
            <a:ext cx="1609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1"/>
                </a:solidFill>
                <a:latin typeface="Aptos"/>
                <a:ea typeface="Aptos"/>
                <a:cs typeface="Aptos"/>
              </a:rPr>
              <a:t>desde a última visita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786BA3-3000-4A85-A748-2BAB95DB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76600"/>
            <a:ext cx="97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4C4B7A-F68F-4207-AB35-96B24F39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1718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D1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D1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4692CA-D139-4B56-9A67-3F178B56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766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259B72-D84A-41EB-9598-FE923B4E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1718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D1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D1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250C83-1B6D-40C1-996A-AF0CEE9C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95850"/>
            <a:ext cx="95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5A8971-C847-4E3E-95F2-B93B198F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7910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D1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D1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2DCC8E-D0DF-4730-9EFB-769F8E94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5780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573A29-0514-4D9A-B5CE-07581446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515302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D1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D1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7E8F63-E4AE-4C07-9B47-5B023ADD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95850"/>
            <a:ext cx="97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69D8D1-3F70-4ECE-9C5D-024AA24A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7910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D1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D1C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A2D704-776F-4486-A0A3-272C0D84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000750"/>
            <a:ext cx="6905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B7C8CA-24B9-42D8-A5BF-14E6C637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076950"/>
            <a:ext cx="6677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Exemplo: “2 posts analisados desde ontem. Um novo território está ganhando força.”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D38D3C-D876-4C6F-A926-D3F4B9E3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E877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E877B"/>
                </a:solidFill>
                <a:latin typeface="Aptos"/>
                <a:ea typeface="Aptos"/>
                <a:cs typeface="Aptos"/>
              </a:rPr>
              <a:t>Fonte: docs de produto D2C, roadmap técnico e skill data2content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04A193-4B4C-4BEB-9A1D-2B59CE18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E877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E87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3054300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9B67EF-10BE-40E8-B5A9-31D9D579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9082D98C-B06F-4B81-8D99-C4E5432E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7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D0C2139B-950F-46EB-82CF-8A4FF714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48BBD-B5FC-439D-B008-99B6F660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6858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O desenvolvimento segue a mesma lógica da jornada.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CF04A-59FD-4423-88BD-A4F195C8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EE7D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EE7D8"/>
                </a:solidFill>
                <a:latin typeface="Aptos"/>
                <a:ea typeface="Aptos"/>
                <a:cs typeface="Aptos"/>
              </a:rPr>
              <a:t>Primeiro confirmar o mapa. Depois calibrar entrada, consolidar sinais, gerar pautas e só então conectar oportunidades.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40820-FA87-4EF8-AC5C-63F81DE7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65CCB-72E1-431F-9643-0D8CDD67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35FE2-6C81-4068-A21C-6B0CCBBC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290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16C55-D22E-463B-90FA-F497A573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82F"/>
          </a:solidFill>
          <a:ln xmlns:a="http://schemas.openxmlformats.org/drawingml/2006/main" w="9525">
            <a:solidFill>
              <a:srgbClr val="3443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54F3E-74B7-4245-B228-7499E101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A0984-5E84-42E3-857E-DD15D606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4340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Confirmação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E81A6-10B5-4483-8E5C-D0242C33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1276350" cy="2522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2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7D2CC"/>
                </a:solidFill>
                <a:latin typeface="Aptos"/>
                <a:ea typeface="Aptos"/>
                <a:cs typeface="Aptos"/>
              </a:rPr>
              <a:t>cards pedem a voz do criador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F0D68E-9EF2-49EC-B3C4-4845D776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24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12392-682F-49DD-866E-4A267A42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290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2E614-4942-48C1-AF9C-F469C001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9100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82F"/>
          </a:solidFill>
          <a:ln xmlns:a="http://schemas.openxmlformats.org/drawingml/2006/main" w="9525">
            <a:solidFill>
              <a:srgbClr val="344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357335-2356-4C40-8FC1-A91754FB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910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D02258-3206-403D-B875-8D13DC4F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4340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Onboarding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73957-0C3A-4215-8491-6C8D7EE6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686300"/>
            <a:ext cx="1276350" cy="2522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2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7D2CC"/>
                </a:solidFill>
                <a:latin typeface="Aptos"/>
                <a:ea typeface="Aptos"/>
                <a:cs typeface="Aptos"/>
              </a:rPr>
              <a:t>seed do mapa com intenção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4094F9-3465-4CE2-9EC9-A5D4AECE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24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678CB-04B5-4A05-A3EC-ECC005E9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290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7D9E6B-E1CE-4018-A0E5-E97AA31E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9100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82F"/>
          </a:solidFill>
          <a:ln xmlns:a="http://schemas.openxmlformats.org/drawingml/2006/main" w="9525">
            <a:solidFill>
              <a:srgbClr val="344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3C3692-04B3-4734-A1BE-978CBEED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910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D4FE8A-FA26-4FE3-83CC-070037A6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34340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Mapa consolidado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31D80F-16DD-4B44-8190-D8407762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86300"/>
            <a:ext cx="1276350" cy="2522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2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7D2CC"/>
                </a:solidFill>
                <a:latin typeface="Aptos"/>
                <a:ea typeface="Aptos"/>
                <a:cs typeface="Aptos"/>
              </a:rPr>
              <a:t>persistência + Stream 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221845-DC1D-4775-B3C2-F42B5B80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24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193503-F061-4213-B404-5719D045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290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8B8227-B795-4684-BD5C-4857A586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9100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82F"/>
          </a:solidFill>
          <a:ln xmlns:a="http://schemas.openxmlformats.org/drawingml/2006/main" w="9525">
            <a:solidFill>
              <a:srgbClr val="3443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11BABD-20F2-4219-AB02-CBA2ED06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910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A2FE18-ED14-4F1C-8C72-797F8DC5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4340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Criação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84B734-EB36-4C22-9550-3208185D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86300"/>
            <a:ext cx="1276350" cy="2522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2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7D2CC"/>
                </a:solidFill>
                <a:latin typeface="Aptos"/>
                <a:ea typeface="Aptos"/>
                <a:cs typeface="Aptos"/>
              </a:rPr>
              <a:t>pautas do mapa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1F99CF-C884-44DE-A84D-D9A03F87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524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E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028E30-E23D-461E-9430-B54BA136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6290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8151D3-F5C7-4AE4-BED7-7A35829C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91000"/>
            <a:ext cx="1619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82F"/>
          </a:solidFill>
          <a:ln xmlns:a="http://schemas.openxmlformats.org/drawingml/2006/main" w="9525">
            <a:solidFill>
              <a:srgbClr val="3443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0FA1CA-1DCD-4350-9FD7-50512095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910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382149-D106-40E0-9D68-C5394039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34340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Oportunidades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7F644E-0599-4B79-B4EA-8122EF23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686300"/>
            <a:ext cx="1276350" cy="2522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2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7D2CC"/>
                </a:solidFill>
                <a:latin typeface="Aptos"/>
                <a:ea typeface="Aptos"/>
                <a:cs typeface="Aptos"/>
              </a:rPr>
              <a:t>collabs + monetização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EAB90C-4B41-4F0D-90DF-7A5EC244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123950"/>
            <a:ext cx="3476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82F"/>
          </a:solidFill>
          <a:ln xmlns:a="http://schemas.openxmlformats.org/drawingml/2006/main" w="9525">
            <a:solidFill>
              <a:srgbClr val="3443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70F098-1B78-46F8-950B-16480B6F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1239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C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D4CD21-4272-45BD-98FA-7757960B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276350"/>
            <a:ext cx="3133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Princípio de execução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0C6DBE-A72A-489E-9E44-F8F6B245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3133725" cy="2899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5D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5DE"/>
                </a:solidFill>
                <a:latin typeface="Aptos"/>
                <a:ea typeface="Aptos"/>
                <a:cs typeface="Aptos"/>
              </a:rPr>
              <a:t>Reaproveitar os cards e o shell de mapa existentes. A inovação principal é a camada de confirmação e evolução narrativa.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5A582A-5D6B-4B3A-AD2B-8D7D4F0D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FC8C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FC8C2"/>
                </a:solidFill>
                <a:latin typeface="Aptos"/>
                <a:ea typeface="Aptos"/>
                <a:cs typeface="Aptos"/>
              </a:rPr>
              <a:t>Fonte: docs de produto D2C, roadmap técnico e skill data2content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B52F33-1EB9-4E2D-BA94-66AB6B5D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FC8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FC8C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241600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2026-05-26T17:35:37.9940000Z</dcterms:created>
  <dcterms:modified xsi:type="dcterms:W3CDTF">2026-05-26T17:35:37.9940000Z</dcterms:modified>
</coreProperties>
</file>